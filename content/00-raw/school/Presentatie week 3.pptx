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9" r:id="rId3"/>
    <p:sldId id="366" r:id="rId4"/>
    <p:sldId id="272" r:id="rId5"/>
    <p:sldId id="276" r:id="rId6"/>
    <p:sldId id="275" r:id="rId7"/>
    <p:sldId id="382" r:id="rId8"/>
    <p:sldId id="277" r:id="rId9"/>
    <p:sldId id="278" r:id="rId10"/>
    <p:sldId id="400" r:id="rId11"/>
    <p:sldId id="401" r:id="rId12"/>
    <p:sldId id="260" r:id="rId13"/>
    <p:sldId id="364" r:id="rId14"/>
    <p:sldId id="365" r:id="rId15"/>
    <p:sldId id="371" r:id="rId16"/>
    <p:sldId id="372" r:id="rId17"/>
    <p:sldId id="261" r:id="rId18"/>
    <p:sldId id="402" r:id="rId19"/>
    <p:sldId id="291" r:id="rId20"/>
    <p:sldId id="306" r:id="rId21"/>
    <p:sldId id="307" r:id="rId22"/>
    <p:sldId id="403" r:id="rId23"/>
    <p:sldId id="262" r:id="rId24"/>
    <p:sldId id="378" r:id="rId25"/>
    <p:sldId id="405" r:id="rId26"/>
    <p:sldId id="406" r:id="rId27"/>
    <p:sldId id="404" r:id="rId28"/>
    <p:sldId id="295" r:id="rId29"/>
    <p:sldId id="407" r:id="rId30"/>
    <p:sldId id="296" r:id="rId31"/>
    <p:sldId id="298" r:id="rId32"/>
    <p:sldId id="264" r:id="rId33"/>
    <p:sldId id="408" r:id="rId34"/>
    <p:sldId id="299" r:id="rId35"/>
    <p:sldId id="384" r:id="rId36"/>
    <p:sldId id="409" r:id="rId37"/>
    <p:sldId id="301" r:id="rId38"/>
    <p:sldId id="302" r:id="rId39"/>
    <p:sldId id="360" r:id="rId40"/>
    <p:sldId id="300" r:id="rId41"/>
    <p:sldId id="303" r:id="rId42"/>
    <p:sldId id="410" r:id="rId43"/>
    <p:sldId id="304" r:id="rId44"/>
    <p:sldId id="369" r:id="rId45"/>
    <p:sldId id="392" r:id="rId46"/>
    <p:sldId id="308" r:id="rId47"/>
    <p:sldId id="312" r:id="rId48"/>
    <p:sldId id="379" r:id="rId4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B3FD3-413F-4D1B-8415-A76AF34E7A71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50267-ACF1-421E-B073-92C3C8FAFA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995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nl-NL">
                <a:ea typeface="ＭＳ Ｐゴシック" pitchFamily="34" charset="-128"/>
              </a:rPr>
              <a:t>Basisveiligheid VCA</a:t>
            </a:r>
          </a:p>
        </p:txBody>
      </p:sp>
      <p:sp>
        <p:nvSpPr>
          <p:cNvPr id="168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nl-NL">
                <a:ea typeface="ＭＳ Ｐゴシック" pitchFamily="34" charset="-128"/>
              </a:rPr>
              <a:t>6652_705</a:t>
            </a:r>
          </a:p>
        </p:txBody>
      </p:sp>
      <p:sp>
        <p:nvSpPr>
          <p:cNvPr id="168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04EA65-125D-4600-AC1A-1017B8578A9A}" type="slidenum">
              <a:rPr lang="nl-NL" smtClean="0">
                <a:latin typeface="Arial" charset="0"/>
              </a:rPr>
              <a:pPr/>
              <a:t>5</a:t>
            </a:fld>
            <a:endParaRPr lang="nl-NL">
              <a:latin typeface="Arial" charset="0"/>
            </a:endParaRPr>
          </a:p>
        </p:txBody>
      </p:sp>
      <p:sp>
        <p:nvSpPr>
          <p:cNvPr id="168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4653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1934A8-42BA-4B8B-BFAE-AFBAC8350034}" type="slidenum">
              <a:rPr lang="nl-NL" altLang="nl-NL" smtClean="0"/>
              <a:pPr>
                <a:spcBef>
                  <a:spcPct val="0"/>
                </a:spcBef>
              </a:pPr>
              <a:t>13</a:t>
            </a:fld>
            <a:endParaRPr lang="nl-NL" altLang="nl-NL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73100"/>
            <a:ext cx="4564062" cy="34226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/>
          <a:lstStyle/>
          <a:p>
            <a:pPr eaLnBrk="1" hangingPunct="1"/>
            <a:endParaRPr lang="nl-NL" altLang="nl-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4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04A6ED-AF00-44E2-B94C-AD3019C0B6CE}" type="slidenum">
              <a:rPr lang="nl-NL" altLang="nl-NL" smtClean="0"/>
              <a:pPr>
                <a:spcBef>
                  <a:spcPct val="0"/>
                </a:spcBef>
              </a:pPr>
              <a:t>14</a:t>
            </a:fld>
            <a:endParaRPr lang="nl-NL" altLang="nl-NL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73100"/>
            <a:ext cx="4564062" cy="342265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/>
          <a:lstStyle/>
          <a:p>
            <a:pPr eaLnBrk="1" hangingPunct="1"/>
            <a:endParaRPr lang="nl-NL" altLang="nl-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344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8DE47A-77C1-4564-BA5A-A51C57EE3232}" type="slidenum">
              <a:rPr lang="nl-NL" altLang="nl-NL" smtClean="0"/>
              <a:pPr>
                <a:spcBef>
                  <a:spcPct val="0"/>
                </a:spcBef>
              </a:pPr>
              <a:t>16</a:t>
            </a:fld>
            <a:endParaRPr lang="nl-NL" altLang="nl-NL"/>
          </a:p>
        </p:txBody>
      </p:sp>
      <p:sp>
        <p:nvSpPr>
          <p:cNvPr id="92163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670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06" tIns="37854" rIns="75706" bIns="37854"/>
          <a:lstStyle>
            <a:lvl1pPr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63525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55688" indent="-211138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76375" indent="-20955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indent="-211138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nl-NL" altLang="nl-NL" sz="700"/>
              <a:t>Basisveiligheid VCA</a:t>
            </a:r>
          </a:p>
        </p:txBody>
      </p:sp>
      <p:sp>
        <p:nvSpPr>
          <p:cNvPr id="92164" name="Rectangle 6"/>
          <p:cNvSpPr txBox="1">
            <a:spLocks noGrp="1" noChangeArrowheads="1"/>
          </p:cNvSpPr>
          <p:nvPr/>
        </p:nvSpPr>
        <p:spPr bwMode="auto">
          <a:xfrm>
            <a:off x="0" y="8682038"/>
            <a:ext cx="29670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06" tIns="37854" rIns="75706" bIns="37854" anchor="b"/>
          <a:lstStyle>
            <a:lvl1pPr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63525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55688" indent="-211138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76375" indent="-20955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indent="-211138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nl-NL" altLang="nl-NL" sz="700"/>
              <a:t>6652_705</a:t>
            </a:r>
          </a:p>
        </p:txBody>
      </p:sp>
      <p:sp>
        <p:nvSpPr>
          <p:cNvPr id="92165" name="Rectangle 7"/>
          <p:cNvSpPr txBox="1">
            <a:spLocks noGrp="1" noChangeArrowheads="1"/>
          </p:cNvSpPr>
          <p:nvPr/>
        </p:nvSpPr>
        <p:spPr bwMode="auto">
          <a:xfrm>
            <a:off x="3890963" y="8682038"/>
            <a:ext cx="29670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706" tIns="37854" rIns="75706" bIns="37854" anchor="b"/>
          <a:lstStyle>
            <a:lvl1pPr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63525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55688" indent="-211138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76375" indent="-20955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98650" indent="-211138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3558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130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702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27450" indent="-211138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F6C9E62F-0786-4B16-90B1-AFF58318FBDA}" type="slidenum">
              <a:rPr lang="nl-NL" altLang="nl-NL" sz="700"/>
              <a:pPr algn="r">
                <a:spcBef>
                  <a:spcPct val="0"/>
                </a:spcBef>
              </a:pPr>
              <a:t>16</a:t>
            </a:fld>
            <a:endParaRPr lang="nl-NL" altLang="nl-NL" sz="700"/>
          </a:p>
        </p:txBody>
      </p:sp>
      <p:sp>
        <p:nvSpPr>
          <p:cNvPr id="921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8938" y="673100"/>
            <a:ext cx="6081712" cy="3422650"/>
          </a:xfrm>
          <a:ln/>
        </p:spPr>
      </p:sp>
      <p:sp>
        <p:nvSpPr>
          <p:cNvPr id="921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 lIns="75706" tIns="37854" rIns="75706" bIns="37854"/>
          <a:lstStyle/>
          <a:p>
            <a:pPr eaLnBrk="1" hangingPunct="1"/>
            <a:endParaRPr lang="nl-NL" altLang="nl-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56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B95FECD-7A6F-4121-8641-777C0C3B3285}" type="slidenum">
              <a:rPr lang="nl-NL" altLang="nl-NL" smtClean="0"/>
              <a:pPr/>
              <a:t>24</a:t>
            </a:fld>
            <a:endParaRPr lang="nl-NL" altLang="nl-NL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8938" y="673100"/>
            <a:ext cx="6081712" cy="34226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/>
          <a:lstStyle/>
          <a:p>
            <a:pPr eaLnBrk="1" hangingPunct="1"/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11950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20CD189-869B-4781-A727-152FBD8FD2D6}" type="slidenum">
              <a:rPr lang="nl-NL" altLang="nl-NL" smtClean="0"/>
              <a:pPr/>
              <a:t>33</a:t>
            </a:fld>
            <a:endParaRPr lang="nl-NL" altLang="nl-NL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73100"/>
            <a:ext cx="4564062" cy="342265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/>
          <a:lstStyle/>
          <a:p>
            <a:pPr eaLnBrk="1" hangingPunct="1"/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428058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56EBDCE-977F-496A-B170-B739162BB4AC}" type="slidenum">
              <a:rPr lang="nl-NL" altLang="nl-NL" smtClean="0"/>
              <a:pPr/>
              <a:t>39</a:t>
            </a:fld>
            <a:endParaRPr lang="nl-NL" altLang="nl-NL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73100"/>
            <a:ext cx="4564062" cy="34226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/>
          <a:lstStyle/>
          <a:p>
            <a:pPr eaLnBrk="1" hangingPunct="1"/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420090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2F59B8-BC79-4AB2-BAD2-4159E85A423D}" type="slidenum">
              <a:rPr lang="nl-NL" altLang="nl-NL" smtClean="0"/>
              <a:pPr/>
              <a:t>44</a:t>
            </a:fld>
            <a:endParaRPr lang="nl-NL" altLang="nl-NL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73100"/>
            <a:ext cx="4564062" cy="342265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40225"/>
            <a:ext cx="5010150" cy="4097338"/>
          </a:xfrm>
          <a:noFill/>
        </p:spPr>
        <p:txBody>
          <a:bodyPr/>
          <a:lstStyle/>
          <a:p>
            <a:pPr eaLnBrk="1" hangingPunct="1"/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026993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4D368B8-7382-46BB-9D23-508C4D5D2528}" type="slidenum">
              <a:rPr lang="nl-NL" altLang="nl-NL" smtClean="0"/>
              <a:pPr/>
              <a:t>48</a:t>
            </a:fld>
            <a:endParaRPr lang="nl-NL" altLang="nl-NL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934359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4A73F-B036-243F-C50E-FC49B967B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32D5D4A-F121-8B34-7043-836D35DB4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E14134-D0BF-0E0F-1BB7-258B4AB7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596B83-F75D-7A04-5F7F-D7C1B884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721C42-6A84-FAF6-CC00-DEFEB483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564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683C3-2BCF-0B51-D4F7-E284AE33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A9B64D6-67C4-E413-5668-3E6030B8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14B9336-D43B-B976-00AB-04044C20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3A2EA6C-BBDC-602A-7FDB-E89066E2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119A5B-E877-E882-CC12-38BFDC42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110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7840F-B131-26F9-4FF9-7042EA6A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DE27D89-C662-6125-F9E2-8B5068E63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D22A7E-2742-6280-17D4-0B5E840C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FE57C2C-0E9D-35A3-1521-2C2F7664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810E6DC-FAD0-62B0-EC24-AEF386B2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316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DA02B8-BA2F-4A33-9032-4D51A91C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EF6084-C194-AA44-1DFB-9AC0882BA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6E55831-4563-CBC9-9EC8-FADD9892A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37CC68E-9712-03DC-CAF6-5A2C8C7F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0B89BCE-6C3A-11D1-E45B-A63B859F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FE3303F-E71F-95E8-9112-4EA1DDF5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472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627DB-DA25-EB0D-E03B-BAB2D38F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364A08-03B7-3503-84FD-D1AC6BBDE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0683A7-3236-5CBF-2EF8-EE601ACF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40935FE-C2CD-2FB3-0325-DB0757379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E82241F-178D-59B6-25CB-94798C2EC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A40D189-90BC-5066-C5E3-2037FC1F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9460F68-56BC-7C0C-D967-CC47F9E8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62444CF-544E-A708-6B0B-924CE9B0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392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0D0360-13C1-65FB-1098-78D1649C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D1E6851-77F6-A0CB-D64C-A2B22055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E01E8E9-4046-CA87-9ED2-B9742CAF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B0C664E-B081-65D6-DFA0-EE386425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444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01CDC0B-22CA-0080-4CA0-9999B624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2F12A16-EE2B-B857-ADF5-111762D8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8A08046-982F-AAF9-36F9-9BD121FA3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433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C8EB4-2474-1BAF-095A-CBADFF9B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7DD574-6641-E6FB-A31C-BFFEB6AF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EFAA93B-B856-4161-FA04-3C8D4983C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F73C36B-37A6-806C-8E89-981072A5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2C0A1B-735C-0B89-F39C-03F0E6AC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E0BB97B-62E4-4956-0223-715485B9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84221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C1241-B29F-53D9-7E02-4D16608FA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A4DACD9-E9CA-8D36-2C02-C44079CB9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9881667-6374-70AA-D358-2E66DAACE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6D3B93F-A99E-38AC-1B1B-1E24317C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52F1AF2-05FD-12A6-29BD-E5EA1EB3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F9F806C-9451-81D1-E5BD-97C8171B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253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59C52-110E-5F72-6C7A-D7E4444D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7624F0C-E781-5E29-13F3-CC9883FEE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DC641D-9745-BC93-3EB1-C78321C2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DA96DD9-993E-03CB-5C2E-44BE1DC7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8A1FE7C-E4D3-6628-03E1-EDECD20C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921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971E16D-D785-A31C-D0AB-6B7DFC1FA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F49D54D-4A58-15FF-8F9E-5C9C89C2F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00B154-30DC-3E7A-FA0F-5B7A562D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C265CB7-293C-9531-A22D-B6C77624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6B891B-5E41-2C82-24CA-67852B7A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189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A6F366A-6A22-7424-FFA3-663258F7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986A07-4636-E383-D3A5-F23ABE933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6E4EA9-4C53-DBA6-9547-AD01C5893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2BFDB-DBC1-4900-9527-63641B404E2E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25D0000-CD96-E185-2435-25DDF2756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80DAF6-24D3-35A6-747F-CB0D660EC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A2E42-0767-461C-B4D2-375DC9A4E4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717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ur04.safelinks.protection.outlook.com/?url=https%3A%2F%2Fwww.dumpert.nl%2Fitem%2F100019885_30966a83&amp;data=04%7C01%7Cschuppert%40zone.college%7C51e7804633604b6469f108d9d75f2f1a%7C25443702039b4485b8ae3054dde1ed25%7C0%7C0%7C637777626077989705%7CUnknown%7CTWFpbGZsb3d8eyJWIjoiMC4wLjAwMDAiLCJQIjoiV2luMzIiLCJBTiI6Ik1haWwiLCJXVCI6Mn0%3D%7C3000&amp;sdata=NUVl5JEvt0lFpyguPx%2B%2FOnhhm9cgWiWzNG%2BjjrGNm4s%3D&amp;reserved=0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50.emf"/><Relationship Id="rId7" Type="http://schemas.openxmlformats.org/officeDocument/2006/relationships/hyperlink" Target="http://www.bedrijfs-kleding.nl/handschoen-ansell-alphatec-535-356mm-p-2528.html" TargetMode="External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10" Type="http://schemas.openxmlformats.org/officeDocument/2006/relationships/image" Target="../media/image56.jpeg"/><Relationship Id="rId4" Type="http://schemas.openxmlformats.org/officeDocument/2006/relationships/image" Target="../media/image51.emf"/><Relationship Id="rId9" Type="http://schemas.openxmlformats.org/officeDocument/2006/relationships/image" Target="../media/image55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9" Type="http://schemas.openxmlformats.org/officeDocument/2006/relationships/image" Target="../media/image6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eg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3" Type="http://schemas.openxmlformats.org/officeDocument/2006/relationships/image" Target="../media/image84.jpeg"/><Relationship Id="rId7" Type="http://schemas.openxmlformats.org/officeDocument/2006/relationships/image" Target="../media/image86.jpeg"/><Relationship Id="rId2" Type="http://schemas.openxmlformats.org/officeDocument/2006/relationships/hyperlink" Target="https://commons.wikimedia.org/wiki/File:Cirkelzaag_(Circular_saw)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tihl.nl/STIHL-Producten/Kettingzagen/0130/Benzine-kettingzagen-voor-bosbouw.aspx" TargetMode="External"/><Relationship Id="rId5" Type="http://schemas.openxmlformats.org/officeDocument/2006/relationships/image" Target="../media/image85.jpeg"/><Relationship Id="rId4" Type="http://schemas.openxmlformats.org/officeDocument/2006/relationships/hyperlink" Target="https://www.praxis.nl/gereedschap-installatiemateriaal/elektrisch-gereedschap/slijpmachines/haakse-slijpers/bosch-haakse-slijper-pws850-125-850w/5314775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FDA47-BF21-DAC5-8A2F-BB0CE73DB6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046E8CE-B5D2-E514-593D-94C834616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969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84536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Veiligheid en gezondheid (V&amp;G)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sz="2400" dirty="0" err="1">
                <a:solidFill>
                  <a:srgbClr val="FF0000"/>
                </a:solidFill>
              </a:rPr>
              <a:t>Arbo</a:t>
            </a:r>
            <a:r>
              <a:rPr lang="nl-NL" sz="2400" dirty="0" err="1"/>
              <a:t>wet</a:t>
            </a:r>
            <a:r>
              <a:rPr lang="nl-NL" sz="2400" dirty="0"/>
              <a:t>: </a:t>
            </a:r>
            <a:r>
              <a:rPr lang="nl-NL" sz="2400" dirty="0">
                <a:solidFill>
                  <a:srgbClr val="FF0000"/>
                </a:solidFill>
              </a:rPr>
              <a:t>veiligheid, gezondheid en welzijn </a:t>
            </a:r>
            <a:r>
              <a:rPr lang="nl-NL" sz="2400" dirty="0"/>
              <a:t>op het werk</a:t>
            </a:r>
          </a:p>
          <a:p>
            <a:pPr>
              <a:buNone/>
              <a:defRPr/>
            </a:pPr>
            <a:endParaRPr lang="nl-NL" sz="2400" dirty="0">
              <a:ea typeface="ＭＳ Ｐゴシック" charset="0"/>
            </a:endParaRPr>
          </a:p>
          <a:p>
            <a:pPr>
              <a:defRPr/>
            </a:pPr>
            <a:r>
              <a:rPr lang="nl-NL" sz="2400" dirty="0">
                <a:ea typeface="ＭＳ Ｐゴシック" charset="0"/>
              </a:rPr>
              <a:t>Geen nadelige invloed vanuit arbeid:</a:t>
            </a:r>
          </a:p>
          <a:p>
            <a:pPr lvl="1">
              <a:defRPr/>
            </a:pPr>
            <a:r>
              <a:rPr lang="nl-NL" dirty="0">
                <a:solidFill>
                  <a:srgbClr val="FF0000"/>
                </a:solidFill>
                <a:ea typeface="ＭＳ Ｐゴシック" charset="0"/>
              </a:rPr>
              <a:t>1</a:t>
            </a:r>
            <a:r>
              <a:rPr lang="nl-NL" dirty="0">
                <a:ea typeface="ＭＳ Ｐゴシック" charset="0"/>
              </a:rPr>
              <a:t>. gevaar bij bron bestrijden </a:t>
            </a:r>
            <a:endParaRPr lang="nl-NL" dirty="0">
              <a:solidFill>
                <a:srgbClr val="FF0000"/>
              </a:solidFill>
              <a:ea typeface="ＭＳ Ｐゴシック" charset="0"/>
            </a:endParaRPr>
          </a:p>
          <a:p>
            <a:pPr lvl="1">
              <a:defRPr/>
            </a:pPr>
            <a:r>
              <a:rPr lang="nl-NL" dirty="0">
                <a:solidFill>
                  <a:srgbClr val="FF0000"/>
                </a:solidFill>
                <a:ea typeface="ＭＳ Ｐゴシック" charset="0"/>
              </a:rPr>
              <a:t>2</a:t>
            </a:r>
            <a:r>
              <a:rPr lang="nl-NL" dirty="0">
                <a:ea typeface="ＭＳ Ｐゴシック" charset="0"/>
              </a:rPr>
              <a:t>. Afschermen </a:t>
            </a:r>
            <a:endParaRPr lang="nl-NL" dirty="0">
              <a:solidFill>
                <a:srgbClr val="FF0000"/>
              </a:solidFill>
              <a:ea typeface="ＭＳ Ｐゴシック" charset="0"/>
            </a:endParaRPr>
          </a:p>
          <a:p>
            <a:pPr lvl="1">
              <a:defRPr/>
            </a:pPr>
            <a:r>
              <a:rPr lang="nl-NL" dirty="0">
                <a:solidFill>
                  <a:srgbClr val="FF0000"/>
                </a:solidFill>
                <a:ea typeface="ＭＳ Ｐゴシック" charset="0"/>
              </a:rPr>
              <a:t>3</a:t>
            </a:r>
            <a:r>
              <a:rPr lang="nl-NL" dirty="0">
                <a:ea typeface="ＭＳ Ｐゴシック" charset="0"/>
              </a:rPr>
              <a:t>. persoonlijke beschermingsmiddelen </a:t>
            </a:r>
            <a:endParaRPr lang="nl-NL" dirty="0">
              <a:solidFill>
                <a:srgbClr val="FF0000"/>
              </a:solidFill>
              <a:ea typeface="ＭＳ Ｐゴシック" charset="0"/>
            </a:endParaRPr>
          </a:p>
          <a:p>
            <a:pPr lvl="1">
              <a:buNone/>
              <a:defRPr/>
            </a:pPr>
            <a:endParaRPr lang="nl-NL" dirty="0">
              <a:ea typeface="ＭＳ Ｐゴシック" charset="0"/>
            </a:endParaRPr>
          </a:p>
          <a:p>
            <a:pPr>
              <a:defRPr/>
            </a:pPr>
            <a:r>
              <a:rPr lang="nl-NL" sz="2400" dirty="0">
                <a:ea typeface="ＭＳ Ｐゴシック" charset="0"/>
              </a:rPr>
              <a:t>Redelijkerwijs </a:t>
            </a:r>
            <a:r>
              <a:rPr lang="nl-NL" sz="2400" dirty="0">
                <a:solidFill>
                  <a:srgbClr val="FF0000"/>
                </a:solidFill>
                <a:ea typeface="ＭＳ Ｐゴシック" charset="0"/>
              </a:rPr>
              <a:t>haalbaar</a:t>
            </a:r>
            <a:r>
              <a:rPr lang="nl-NL" sz="2400" dirty="0">
                <a:ea typeface="ＭＳ Ｐゴシック" charset="0"/>
              </a:rPr>
              <a:t>:</a:t>
            </a:r>
          </a:p>
          <a:p>
            <a:pPr lvl="1">
              <a:defRPr/>
            </a:pPr>
            <a:r>
              <a:rPr lang="nl-NL" dirty="0">
                <a:ea typeface="ＭＳ Ｐゴシック" charset="0"/>
              </a:rPr>
              <a:t>technisch</a:t>
            </a:r>
          </a:p>
          <a:p>
            <a:pPr lvl="1">
              <a:defRPr/>
            </a:pPr>
            <a:r>
              <a:rPr lang="nl-NL" dirty="0">
                <a:ea typeface="ＭＳ Ｐゴシック" charset="0"/>
              </a:rPr>
              <a:t>organisatorisch</a:t>
            </a:r>
          </a:p>
          <a:p>
            <a:pPr lvl="1">
              <a:defRPr/>
            </a:pPr>
            <a:r>
              <a:rPr lang="nl-NL" dirty="0">
                <a:ea typeface="ＭＳ Ｐゴシック" charset="0"/>
              </a:rPr>
              <a:t>economisch  </a:t>
            </a:r>
          </a:p>
          <a:p>
            <a:endParaRPr lang="nl-NL" sz="2400" dirty="0"/>
          </a:p>
        </p:txBody>
      </p:sp>
      <p:sp>
        <p:nvSpPr>
          <p:cNvPr id="10" name="Rechthoek 9"/>
          <p:cNvSpPr/>
          <p:nvPr/>
        </p:nvSpPr>
        <p:spPr>
          <a:xfrm>
            <a:off x="7968208" y="4221088"/>
            <a:ext cx="2088232" cy="18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</a:t>
            </a: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024268" y="4293097"/>
            <a:ext cx="1960164" cy="1825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6995120" cy="1143000"/>
          </a:xfrm>
        </p:spPr>
        <p:txBody>
          <a:bodyPr>
            <a:normAutofit/>
          </a:bodyPr>
          <a:lstStyle/>
          <a:p>
            <a:r>
              <a:rPr lang="nl-NL" sz="3600" dirty="0"/>
              <a:t>Geluid </a:t>
            </a:r>
            <a:r>
              <a:rPr lang="nl-NL" sz="3600" b="1" dirty="0"/>
              <a:t>bij de bron </a:t>
            </a:r>
            <a:r>
              <a:rPr lang="nl-NL" sz="3600" dirty="0"/>
              <a:t>bestrijden  </a:t>
            </a:r>
          </a:p>
        </p:txBody>
      </p:sp>
      <p:pic>
        <p:nvPicPr>
          <p:cNvPr id="7" name="Tijdelijke aanduiding voor inhoud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599" y="1096524"/>
            <a:ext cx="2857500" cy="2857500"/>
          </a:xfrm>
        </p:spPr>
      </p:pic>
      <p:pic>
        <p:nvPicPr>
          <p:cNvPr id="8" name="Tijdelijke aanduiding voor inhoud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351" y="1417638"/>
            <a:ext cx="2381250" cy="2381250"/>
          </a:xfr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654" y="4005065"/>
            <a:ext cx="2857500" cy="2352675"/>
          </a:xfrm>
          <a:prstGeom prst="rect">
            <a:avLst/>
          </a:prstGeom>
        </p:spPr>
      </p:pic>
      <p:pic>
        <p:nvPicPr>
          <p:cNvPr id="10" name="Afbeelding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596" y="4221088"/>
            <a:ext cx="2387204" cy="2387204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944" y="3303806"/>
            <a:ext cx="1331553" cy="1536407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107144"/>
            <a:ext cx="1331640" cy="1706164"/>
          </a:xfrm>
          <a:prstGeom prst="rect">
            <a:avLst/>
          </a:prstGeom>
        </p:spPr>
      </p:pic>
      <p:pic>
        <p:nvPicPr>
          <p:cNvPr id="13" name="Afbeelding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697" y="38705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6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3"/>
          <p:cNvSpPr>
            <a:spLocks noGrp="1"/>
          </p:cNvSpPr>
          <p:nvPr>
            <p:ph idx="1"/>
          </p:nvPr>
        </p:nvSpPr>
        <p:spPr>
          <a:xfrm>
            <a:off x="1775520" y="1340769"/>
            <a:ext cx="5106988" cy="49117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endParaRPr lang="nl-NL" sz="3100" b="1" dirty="0"/>
          </a:p>
          <a:p>
            <a:pPr marL="0" indent="0">
              <a:buNone/>
              <a:defRPr/>
            </a:pPr>
            <a:r>
              <a:rPr lang="nl-NL" sz="3100" b="1" dirty="0"/>
              <a:t>CE-KEURMERK</a:t>
            </a:r>
          </a:p>
          <a:p>
            <a:pPr marL="0" indent="0">
              <a:buNone/>
              <a:defRPr/>
            </a:pPr>
            <a:endParaRPr lang="nl-NL" sz="3100" dirty="0"/>
          </a:p>
          <a:p>
            <a:pPr marL="0" indent="0">
              <a:buNone/>
              <a:defRPr/>
            </a:pPr>
            <a:r>
              <a:rPr lang="nl-NL" sz="3100" dirty="0"/>
              <a:t>CE = </a:t>
            </a:r>
            <a:r>
              <a:rPr lang="nl-NL" sz="3100" dirty="0" err="1"/>
              <a:t>Conformité</a:t>
            </a:r>
            <a:r>
              <a:rPr lang="nl-NL" sz="3100" dirty="0"/>
              <a:t> </a:t>
            </a:r>
            <a:r>
              <a:rPr lang="nl-NL" sz="3100" dirty="0" err="1"/>
              <a:t>Européene</a:t>
            </a:r>
            <a:endParaRPr lang="nl-NL" sz="3100" dirty="0"/>
          </a:p>
          <a:p>
            <a:pPr marL="625475" indent="-625475">
              <a:buNone/>
              <a:defRPr/>
            </a:pPr>
            <a:r>
              <a:rPr lang="nl-NL" sz="3100" dirty="0"/>
              <a:t>CE = Europese richtlijn voor gebruiksveiligheid van producten</a:t>
            </a:r>
          </a:p>
          <a:p>
            <a:pPr marL="0" indent="0">
              <a:buNone/>
              <a:defRPr/>
            </a:pPr>
            <a:endParaRPr lang="nl-NL" sz="3100" dirty="0"/>
          </a:p>
          <a:p>
            <a:pPr marL="0" indent="0">
              <a:buNone/>
              <a:defRPr/>
            </a:pPr>
            <a:r>
              <a:rPr lang="nl-NL" sz="3100" dirty="0"/>
              <a:t>Verplicht voor o.a. arbeidsmiddelen, werkkleding, persoonlijke beschermingsmiddelen etc.</a:t>
            </a:r>
          </a:p>
          <a:p>
            <a:pPr marL="0" indent="0">
              <a:buNone/>
              <a:defRPr/>
            </a:pPr>
            <a:endParaRPr lang="nl-NL" sz="3100" dirty="0"/>
          </a:p>
          <a:p>
            <a:pPr marL="0" indent="0">
              <a:buNone/>
              <a:defRPr/>
            </a:pPr>
            <a:r>
              <a:rPr lang="nl-NL" sz="3100" dirty="0"/>
              <a:t>Verplicht in alle EU-landen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31748" name="Picture 9" descr="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04113" y="1772817"/>
            <a:ext cx="3324225" cy="424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775520" y="284536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Arbeidstijdenwet, milieuwet en CE</a:t>
            </a:r>
            <a:endParaRPr lang="nl-NL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616279" y="2636912"/>
            <a:ext cx="2244225" cy="1008112"/>
            <a:chOff x="-1808" y="3168"/>
            <a:chExt cx="1400" cy="500"/>
          </a:xfrm>
        </p:grpSpPr>
        <p:sp>
          <p:nvSpPr>
            <p:cNvPr id="20487" name="AutoShape 4"/>
            <p:cNvSpPr>
              <a:spLocks noChangeArrowheads="1"/>
            </p:cNvSpPr>
            <p:nvPr/>
          </p:nvSpPr>
          <p:spPr bwMode="auto">
            <a:xfrm>
              <a:off x="-1808" y="3168"/>
              <a:ext cx="1400" cy="500"/>
            </a:xfrm>
            <a:prstGeom prst="wedgeEllipseCallout">
              <a:avLst>
                <a:gd name="adj1" fmla="val -76431"/>
                <a:gd name="adj2" fmla="val 51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GB"/>
            </a:p>
          </p:txBody>
        </p:sp>
        <p:sp>
          <p:nvSpPr>
            <p:cNvPr id="20488" name="Text Box 5"/>
            <p:cNvSpPr txBox="1">
              <a:spLocks noChangeArrowheads="1"/>
            </p:cNvSpPr>
            <p:nvPr/>
          </p:nvSpPr>
          <p:spPr bwMode="auto">
            <a:xfrm>
              <a:off x="-1666" y="3290"/>
              <a:ext cx="1258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nl-NL" sz="2000" b="1" i="1" dirty="0"/>
                <a:t>redelijkerwijs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5856" y="1570038"/>
            <a:ext cx="5494321" cy="504056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endParaRPr lang="nl-NL" sz="2200" b="1" dirty="0">
              <a:latin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nl-NL" sz="2200" b="1" dirty="0">
                <a:latin typeface="Calibri" panose="020F0502020204030204" pitchFamily="34" charset="0"/>
              </a:rPr>
              <a:t>Verantwoordelijkheden van de werkgever:</a:t>
            </a:r>
          </a:p>
          <a:p>
            <a:pPr>
              <a:defRPr/>
            </a:pPr>
            <a:r>
              <a:rPr lang="nl-NL" sz="2200" dirty="0">
                <a:latin typeface="Calibri" panose="020F0502020204030204" pitchFamily="34" charset="0"/>
              </a:rPr>
              <a:t>risico</a:t>
            </a:r>
            <a:r>
              <a:rPr lang="en-US" sz="2200" dirty="0">
                <a:latin typeface="Calibri" panose="020F0502020204030204" pitchFamily="34" charset="0"/>
              </a:rPr>
              <a:t>-</a:t>
            </a:r>
            <a:r>
              <a:rPr lang="nl-NL" sz="2200" dirty="0">
                <a:latin typeface="Calibri" panose="020F0502020204030204" pitchFamily="34" charset="0"/>
              </a:rPr>
              <a:t>inventarisatie en -evaluatie (RI&amp;E);</a:t>
            </a:r>
          </a:p>
          <a:p>
            <a:pPr>
              <a:lnSpc>
                <a:spcPct val="150000"/>
              </a:lnSpc>
              <a:defRPr/>
            </a:pPr>
            <a:r>
              <a:rPr lang="nl-NL" sz="2200" dirty="0">
                <a:latin typeface="Calibri" panose="020F0502020204030204" pitchFamily="34" charset="0"/>
              </a:rPr>
              <a:t>opstellen van plan van aanpak;</a:t>
            </a:r>
          </a:p>
          <a:p>
            <a:pPr>
              <a:lnSpc>
                <a:spcPct val="150000"/>
              </a:lnSpc>
              <a:defRPr/>
            </a:pPr>
            <a:r>
              <a:rPr lang="nl-NL" sz="2200" dirty="0">
                <a:latin typeface="Calibri" panose="020F0502020204030204" pitchFamily="34" charset="0"/>
              </a:rPr>
              <a:t>voeren van beleid;</a:t>
            </a:r>
          </a:p>
          <a:p>
            <a:pPr>
              <a:defRPr/>
            </a:pPr>
            <a:r>
              <a:rPr lang="nl-NL" sz="2200" dirty="0">
                <a:latin typeface="Calibri" panose="020F0502020204030204" pitchFamily="34" charset="0"/>
              </a:rPr>
              <a:t>onderzoeken, melden en registreren van ongevallen;</a:t>
            </a:r>
          </a:p>
          <a:p>
            <a:pPr>
              <a:lnSpc>
                <a:spcPct val="150000"/>
              </a:lnSpc>
              <a:defRPr/>
            </a:pPr>
            <a:r>
              <a:rPr lang="nl-NL" sz="2200" dirty="0">
                <a:latin typeface="Calibri" panose="020F0502020204030204" pitchFamily="34" charset="0"/>
              </a:rPr>
              <a:t>geven van voorlichting;</a:t>
            </a:r>
          </a:p>
          <a:p>
            <a:pPr>
              <a:defRPr/>
            </a:pPr>
            <a:r>
              <a:rPr lang="nl-NL" sz="2200" dirty="0">
                <a:latin typeface="Calibri" panose="020F0502020204030204" pitchFamily="34" charset="0"/>
              </a:rPr>
              <a:t>zorgen voor veilige middelen en werkmethoden.</a:t>
            </a:r>
          </a:p>
          <a:p>
            <a:pPr marL="0" indent="0">
              <a:buNone/>
              <a:defRPr/>
            </a:pP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1775520" y="284536"/>
            <a:ext cx="8496944" cy="1345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nl-NL" sz="2800" b="1" dirty="0"/>
              <a:t>Taken verantwoordelijkheden &amp; bevoegdheden</a:t>
            </a:r>
            <a:endParaRPr lang="nl-NL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2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228648" y="3736479"/>
            <a:ext cx="154305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5520" y="284536"/>
            <a:ext cx="8229600" cy="1143000"/>
          </a:xfrm>
        </p:spPr>
        <p:txBody>
          <a:bodyPr anchor="t">
            <a:normAutofit/>
          </a:bodyPr>
          <a:lstStyle/>
          <a:p>
            <a:pPr lvl="0" algn="l">
              <a:defRPr/>
            </a:pPr>
            <a:r>
              <a:rPr lang="nl-NL" sz="3100" b="1" dirty="0"/>
              <a:t>Taken verantwoordelijkheden &amp; bevoegdheden</a:t>
            </a:r>
            <a:br>
              <a:rPr lang="nl-NL" sz="3200" dirty="0"/>
            </a:br>
            <a:endParaRPr lang="nl-NL" sz="32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03594" y="1772816"/>
            <a:ext cx="5172526" cy="470912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nl-NL" sz="2200" b="1" dirty="0"/>
              <a:t>Verantwoordelijkheden  van werknemers:</a:t>
            </a:r>
          </a:p>
          <a:p>
            <a:pPr>
              <a:defRPr/>
            </a:pPr>
            <a:r>
              <a:rPr lang="nl-NL" sz="2200" dirty="0"/>
              <a:t>geen gevaar veroorzaken</a:t>
            </a:r>
          </a:p>
          <a:p>
            <a:pPr>
              <a:defRPr/>
            </a:pPr>
            <a:r>
              <a:rPr lang="nl-NL" sz="2200" dirty="0"/>
              <a:t>beveiligingen en persoonlijke beschermingsmiddelen toepassen</a:t>
            </a:r>
          </a:p>
          <a:p>
            <a:pPr>
              <a:defRPr/>
            </a:pPr>
            <a:r>
              <a:rPr lang="nl-NL" sz="2200" dirty="0"/>
              <a:t>voorlichting en instructie volgen</a:t>
            </a:r>
          </a:p>
          <a:p>
            <a:pPr>
              <a:defRPr/>
            </a:pPr>
            <a:r>
              <a:rPr lang="nl-NL" sz="2200" dirty="0"/>
              <a:t>gereedschap (en machines) op de juiste manier gebruiken</a:t>
            </a:r>
          </a:p>
          <a:p>
            <a:pPr>
              <a:defRPr/>
            </a:pPr>
            <a:r>
              <a:rPr lang="nl-NL" sz="2200" dirty="0"/>
              <a:t>melden van gevaar</a:t>
            </a:r>
          </a:p>
          <a:p>
            <a:pPr>
              <a:defRPr/>
            </a:pPr>
            <a:r>
              <a:rPr lang="nl-NL" sz="2200" dirty="0"/>
              <a:t>meewerken aan ongevalsonderzoek </a:t>
            </a:r>
          </a:p>
          <a:p>
            <a:pPr>
              <a:defRPr/>
            </a:pPr>
            <a:endParaRPr lang="en-US" sz="2200" dirty="0"/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392144" y="3356993"/>
            <a:ext cx="287655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Meewerken aan onderzoek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6"/>
          <a:stretch>
            <a:fillRect/>
          </a:stretch>
        </p:blipFill>
        <p:spPr>
          <a:xfrm>
            <a:off x="5293895" y="34856"/>
            <a:ext cx="4404728" cy="6823144"/>
          </a:xfrm>
        </p:spPr>
      </p:pic>
      <p:sp>
        <p:nvSpPr>
          <p:cNvPr id="6" name="Tijdelijke aanduiding voor tekst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016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nl-NL" sz="2400" dirty="0"/>
              <a:t>Werkvergunning: </a:t>
            </a:r>
            <a:r>
              <a:rPr lang="nl-NL" sz="2400" dirty="0">
                <a:solidFill>
                  <a:srgbClr val="FF0000"/>
                </a:solidFill>
              </a:rPr>
              <a:t>Bij gevaarlijke klussen</a:t>
            </a:r>
          </a:p>
          <a:p>
            <a:pPr>
              <a:defRPr/>
            </a:pPr>
            <a:r>
              <a:rPr lang="nl-NL" sz="2400" dirty="0"/>
              <a:t>overleg tussen betrokkenen;</a:t>
            </a:r>
          </a:p>
          <a:p>
            <a:pPr>
              <a:defRPr/>
            </a:pPr>
            <a:r>
              <a:rPr lang="nl-NL" sz="2400" dirty="0"/>
              <a:t>bindende afspraken;</a:t>
            </a:r>
          </a:p>
          <a:p>
            <a:pPr>
              <a:defRPr/>
            </a:pPr>
            <a:r>
              <a:rPr lang="nl-NL" sz="2400" dirty="0"/>
              <a:t>vastleggen van voorwaarden voor uitvoeren van werk.</a:t>
            </a:r>
          </a:p>
          <a:p>
            <a:pPr>
              <a:buNone/>
            </a:pPr>
            <a:endParaRPr lang="nl-NL" sz="2400" dirty="0"/>
          </a:p>
          <a:p>
            <a:pPr marL="0" indent="0">
              <a:buNone/>
              <a:defRPr/>
            </a:pPr>
            <a:r>
              <a:rPr lang="nl-NL" sz="2400" dirty="0"/>
              <a:t>Specifieke werkvergunningen zijn:</a:t>
            </a:r>
          </a:p>
          <a:p>
            <a:pPr>
              <a:defRPr/>
            </a:pPr>
            <a:r>
              <a:rPr lang="nl-NL" sz="2400" dirty="0"/>
              <a:t>heetwerkvergunningen</a:t>
            </a:r>
          </a:p>
          <a:p>
            <a:pPr>
              <a:defRPr/>
            </a:pPr>
            <a:r>
              <a:rPr lang="nl-NL" sz="2400" dirty="0"/>
              <a:t>Graafvergunningen graven in vervuilde grond</a:t>
            </a:r>
          </a:p>
          <a:p>
            <a:pPr>
              <a:defRPr/>
            </a:pPr>
            <a:r>
              <a:rPr lang="nl-NL" sz="2400" dirty="0"/>
              <a:t>Werken aan/bij gevaarlijke stralingsbronnen</a:t>
            </a:r>
          </a:p>
          <a:p>
            <a:pPr>
              <a:defRPr/>
            </a:pPr>
            <a:r>
              <a:rPr lang="nl-NL" sz="2400" dirty="0"/>
              <a:t>verwijderen van asbest</a:t>
            </a:r>
          </a:p>
          <a:p>
            <a:pPr>
              <a:buNone/>
            </a:pPr>
            <a:endParaRPr lang="nl-NL" sz="2400" dirty="0"/>
          </a:p>
        </p:txBody>
      </p:sp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1774825" y="280191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Werkvergunningen</a:t>
            </a:r>
            <a:endParaRPr lang="nl-NL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nl-NL" sz="2400" dirty="0"/>
              <a:t>Onderdelen werkvergunning:</a:t>
            </a:r>
          </a:p>
          <a:p>
            <a:pPr>
              <a:defRPr/>
            </a:pPr>
            <a:r>
              <a:rPr lang="nl-NL" sz="2400" dirty="0"/>
              <a:t>aanvraag werkzaamheden</a:t>
            </a:r>
          </a:p>
          <a:p>
            <a:pPr>
              <a:defRPr/>
            </a:pPr>
            <a:r>
              <a:rPr lang="nl-NL" sz="2400" dirty="0"/>
              <a:t>maatregelen door verstrekkende afdeling </a:t>
            </a:r>
            <a:r>
              <a:rPr lang="nl-NL" sz="2400" dirty="0">
                <a:solidFill>
                  <a:srgbClr val="FF0000"/>
                </a:solidFill>
              </a:rPr>
              <a:t>(voor wie je de klus uitvoert)</a:t>
            </a:r>
          </a:p>
          <a:p>
            <a:pPr>
              <a:defRPr/>
            </a:pPr>
            <a:r>
              <a:rPr lang="nl-NL" sz="2400" dirty="0"/>
              <a:t>maatregelen door houder </a:t>
            </a:r>
            <a:r>
              <a:rPr lang="nl-NL" sz="2400" dirty="0">
                <a:solidFill>
                  <a:srgbClr val="FF0000"/>
                </a:solidFill>
              </a:rPr>
              <a:t>(bedrijf wat klus gaat uitvoeren)</a:t>
            </a:r>
          </a:p>
          <a:p>
            <a:pPr>
              <a:defRPr/>
            </a:pPr>
            <a:r>
              <a:rPr lang="nl-NL" sz="2400" dirty="0"/>
              <a:t>Bekrachtiging (</a:t>
            </a:r>
            <a:r>
              <a:rPr lang="nl-NL" sz="2400" dirty="0">
                <a:solidFill>
                  <a:srgbClr val="FF0000"/>
                </a:solidFill>
              </a:rPr>
              <a:t>Handtekening)</a:t>
            </a:r>
          </a:p>
          <a:p>
            <a:endParaRPr lang="nl-NL" dirty="0"/>
          </a:p>
        </p:txBody>
      </p:sp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1774825" y="268160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Werkvergunningen</a:t>
            </a:r>
            <a:endParaRPr lang="nl-NL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3923CA5-524E-4F8D-8340-6A1716C6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5" y="4073578"/>
            <a:ext cx="2890239" cy="28149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44C8CA72-C56A-4427-A127-8E0EEF2147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" t="18500" r="10625" b="6950"/>
          <a:stretch/>
        </p:blipFill>
        <p:spPr>
          <a:xfrm>
            <a:off x="0" y="0"/>
            <a:ext cx="10515599" cy="6968285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C834509-EA35-E7CE-59C1-D390BFC0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193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F87E0-04B3-4CA9-80A2-ADD71B7F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Nut van werkvergunning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F798BD-98AE-4AB0-B5A9-8C01E8A4E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hlinkClick r:id="rId2" tooltip="Originele URL: https://www.dumpert.nl/item/100019885_30966a83. Klik of tik als u deze koppeling vertrouwt."/>
              </a:rPr>
              <a:t>https://www.dumpert.nl/item/100019885_30966a83</a:t>
            </a:r>
            <a:r>
              <a:rPr lang="nl-NL" dirty="0"/>
              <a:t> 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FFBC244-8B86-416C-BDC5-AB79FF3DC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Werken met lantaarnpaal plaatsen: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nl-NL" sz="2000" dirty="0"/>
              <a:t>Geen groot risico.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nl-NL" sz="2000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nl-NL" sz="2000" dirty="0"/>
              <a:t>Werken bij stroom: </a:t>
            </a:r>
            <a:r>
              <a:rPr lang="nl-NL" sz="2000" b="1" dirty="0"/>
              <a:t>Risico!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nl-NL" sz="2000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nl-NL" sz="2000" dirty="0"/>
              <a:t>Lantaarnpaal plaatsen dicht bij stroom is </a:t>
            </a:r>
            <a:r>
              <a:rPr lang="nl-NL" sz="2000" b="1" dirty="0"/>
              <a:t>werkvergunning!</a:t>
            </a:r>
          </a:p>
        </p:txBody>
      </p:sp>
    </p:spTree>
    <p:extLst>
      <p:ext uri="{BB962C8B-B14F-4D97-AF65-F5344CB8AC3E}">
        <p14:creationId xmlns:p14="http://schemas.microsoft.com/office/powerpoint/2010/main" val="193634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84536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Veilig werken en gedrag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nl-NL" dirty="0"/>
              <a:t>Veilig gedrag is:</a:t>
            </a:r>
          </a:p>
          <a:p>
            <a:pPr marL="0" indent="0">
              <a:buNone/>
              <a:defRPr/>
            </a:pPr>
            <a:r>
              <a:rPr lang="nl-NL" dirty="0"/>
              <a:t>Je zodanig gedragen dat je jezelf en anderen niet in gevaar brengt</a:t>
            </a:r>
          </a:p>
          <a:p>
            <a:pPr>
              <a:defRPr/>
            </a:pPr>
            <a:endParaRPr lang="nl-NL" dirty="0"/>
          </a:p>
          <a:p>
            <a:pPr marL="0" indent="0">
              <a:buNone/>
              <a:defRPr/>
            </a:pPr>
            <a:r>
              <a:rPr lang="nl-NL" dirty="0"/>
              <a:t>Dat bereik je door:</a:t>
            </a:r>
          </a:p>
          <a:p>
            <a:pPr>
              <a:lnSpc>
                <a:spcPct val="150000"/>
              </a:lnSpc>
              <a:defRPr/>
            </a:pPr>
            <a:r>
              <a:rPr lang="nl-NL" dirty="0"/>
              <a:t>je aan de veiligheidsvoorschriften te houden;</a:t>
            </a:r>
          </a:p>
          <a:p>
            <a:pPr>
              <a:lnSpc>
                <a:spcPct val="150000"/>
              </a:lnSpc>
              <a:defRPr/>
            </a:pPr>
            <a:r>
              <a:rPr lang="nl-NL" dirty="0"/>
              <a:t>aanwijzingen en instructies op te volgen;</a:t>
            </a:r>
          </a:p>
          <a:p>
            <a:pPr>
              <a:lnSpc>
                <a:spcPct val="150000"/>
              </a:lnSpc>
              <a:defRPr/>
            </a:pPr>
            <a:r>
              <a:rPr lang="nl-NL" dirty="0">
                <a:solidFill>
                  <a:srgbClr val="FF0000"/>
                </a:solidFill>
              </a:rPr>
              <a:t>onveilige handelingen </a:t>
            </a:r>
            <a:r>
              <a:rPr lang="nl-NL" dirty="0"/>
              <a:t>stoppen;</a:t>
            </a:r>
          </a:p>
          <a:p>
            <a:pPr>
              <a:lnSpc>
                <a:spcPct val="150000"/>
              </a:lnSpc>
              <a:defRPr/>
            </a:pPr>
            <a:r>
              <a:rPr lang="nl-NL" dirty="0">
                <a:solidFill>
                  <a:srgbClr val="FF0000"/>
                </a:solidFill>
              </a:rPr>
              <a:t>onveilige situaties </a:t>
            </a:r>
            <a:r>
              <a:rPr lang="nl-NL" dirty="0"/>
              <a:t>opheffen;</a:t>
            </a:r>
          </a:p>
          <a:p>
            <a:pPr>
              <a:lnSpc>
                <a:spcPct val="150000"/>
              </a:lnSpc>
              <a:defRPr/>
            </a:pPr>
            <a:r>
              <a:rPr lang="nl-NL" dirty="0">
                <a:solidFill>
                  <a:srgbClr val="FF0000"/>
                </a:solidFill>
              </a:rPr>
              <a:t>onveilig gedrag</a:t>
            </a:r>
            <a:r>
              <a:rPr lang="nl-NL" dirty="0"/>
              <a:t>: persoon aanspreken of melden aan leidinggevende;</a:t>
            </a:r>
          </a:p>
          <a:p>
            <a:pPr>
              <a:lnSpc>
                <a:spcPct val="150000"/>
              </a:lnSpc>
              <a:defRPr/>
            </a:pPr>
            <a:r>
              <a:rPr lang="nl-NL" dirty="0"/>
              <a:t>orde en netheid betrachten. </a:t>
            </a:r>
            <a:r>
              <a:rPr lang="nl-NL" dirty="0" err="1">
                <a:solidFill>
                  <a:srgbClr val="FF0000"/>
                </a:solidFill>
              </a:rPr>
              <a:t>Good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housekeeping</a:t>
            </a:r>
            <a:endParaRPr lang="nl-NL" dirty="0">
              <a:solidFill>
                <a:srgbClr val="FF0000"/>
              </a:solidFill>
            </a:endParaRPr>
          </a:p>
          <a:p>
            <a:endParaRPr lang="nl-N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Onveilige situatie</a:t>
            </a:r>
          </a:p>
        </p:txBody>
      </p:sp>
      <p:pic>
        <p:nvPicPr>
          <p:cNvPr id="93187" name="Picture 3" descr="untitled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73375" y="1568450"/>
            <a:ext cx="6832600" cy="5124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404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Onveilige handeling</a:t>
            </a:r>
          </a:p>
        </p:txBody>
      </p:sp>
      <p:pic>
        <p:nvPicPr>
          <p:cNvPr id="95235" name="Picture 3" descr="untitled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38626" y="1160464"/>
            <a:ext cx="4271963" cy="5697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799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Onveilig gedrag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237" y="1484784"/>
            <a:ext cx="6736640" cy="4968552"/>
          </a:xfrm>
        </p:spPr>
      </p:pic>
    </p:spTree>
    <p:extLst>
      <p:ext uri="{BB962C8B-B14F-4D97-AF65-F5344CB8AC3E}">
        <p14:creationId xmlns:p14="http://schemas.microsoft.com/office/powerpoint/2010/main" val="154666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6"/>
          <p:cNvSpPr txBox="1">
            <a:spLocks noGrp="1" noChangeArrowheads="1"/>
          </p:cNvSpPr>
          <p:nvPr/>
        </p:nvSpPr>
        <p:spPr bwMode="auto">
          <a:xfrm>
            <a:off x="5143500" y="6638925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4CAEAACE-A8B1-492D-80F8-519A0680900F}" type="slidenum">
              <a:rPr lang="nl-NL" altLang="nl-NL" sz="800"/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nl-NL" altLang="nl-NL" sz="800"/>
          </a:p>
        </p:txBody>
      </p:sp>
      <p:sp>
        <p:nvSpPr>
          <p:cNvPr id="91140" name="Text Box 2"/>
          <p:cNvSpPr txBox="1">
            <a:spLocks noChangeArrowheads="1"/>
          </p:cNvSpPr>
          <p:nvPr/>
        </p:nvSpPr>
        <p:spPr bwMode="auto">
          <a:xfrm>
            <a:off x="2514601" y="2590801"/>
            <a:ext cx="18473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NL" altLang="nl-NL" sz="2400">
              <a:solidFill>
                <a:srgbClr val="333333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nl-NL" altLang="nl-NL" sz="2400">
              <a:solidFill>
                <a:srgbClr val="333333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nl-NL" altLang="nl-NL" sz="2400">
              <a:solidFill>
                <a:srgbClr val="333333"/>
              </a:solidFill>
            </a:endParaRPr>
          </a:p>
        </p:txBody>
      </p:sp>
      <p:sp>
        <p:nvSpPr>
          <p:cNvPr id="91142" name="Text Box 4"/>
          <p:cNvSpPr txBox="1">
            <a:spLocks noChangeArrowheads="1"/>
          </p:cNvSpPr>
          <p:nvPr/>
        </p:nvSpPr>
        <p:spPr bwMode="auto">
          <a:xfrm>
            <a:off x="2803525" y="5757863"/>
            <a:ext cx="4260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80</a:t>
            </a:r>
            <a:r>
              <a:rPr lang="en-US" altLang="nl-NL" sz="2400" b="1"/>
              <a:t> </a:t>
            </a:r>
            <a:r>
              <a:rPr lang="nl-NL" altLang="nl-NL" sz="2400" b="1"/>
              <a:t>% onveilige handelingen!</a:t>
            </a:r>
            <a:endParaRPr lang="nl-NL" altLang="nl-NL"/>
          </a:p>
        </p:txBody>
      </p:sp>
      <p:sp>
        <p:nvSpPr>
          <p:cNvPr id="91143" name="Text Box 5"/>
          <p:cNvSpPr txBox="1">
            <a:spLocks noChangeArrowheads="1"/>
          </p:cNvSpPr>
          <p:nvPr/>
        </p:nvSpPr>
        <p:spPr bwMode="auto">
          <a:xfrm>
            <a:off x="6899275" y="2498726"/>
            <a:ext cx="23891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NL" sz="2400" b="1"/>
              <a:t>20% onveilige situaties!</a:t>
            </a:r>
            <a:endParaRPr lang="nl-NL" altLang="nl-NL" sz="2400"/>
          </a:p>
        </p:txBody>
      </p:sp>
      <p:sp>
        <p:nvSpPr>
          <p:cNvPr id="91144" name="Rectangle 9"/>
          <p:cNvSpPr>
            <a:spLocks noChangeArrowheads="1"/>
          </p:cNvSpPr>
          <p:nvPr/>
        </p:nvSpPr>
        <p:spPr bwMode="auto">
          <a:xfrm>
            <a:off x="2517775" y="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NL" altLang="nl-NL" sz="2400" b="1" dirty="0">
              <a:solidFill>
                <a:srgbClr val="860038"/>
              </a:solidFill>
              <a:latin typeface="Verdana" panose="020B0604030504040204" pitchFamily="34" charset="0"/>
            </a:endParaRPr>
          </a:p>
        </p:txBody>
      </p:sp>
      <p:pic>
        <p:nvPicPr>
          <p:cNvPr id="9114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8" y="2055813"/>
            <a:ext cx="28003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991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60350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>
                <a:latin typeface="+mn-lt"/>
              </a:rPr>
              <a:t>Gevaren en risico’s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355600" indent="-355600">
              <a:lnSpc>
                <a:spcPct val="110000"/>
              </a:lnSpc>
              <a:buNone/>
              <a:defRPr/>
            </a:pPr>
            <a:r>
              <a:rPr lang="nl-NL" dirty="0"/>
              <a:t>Bronnen van gevaar:</a:t>
            </a:r>
          </a:p>
          <a:p>
            <a:pPr marL="355600" indent="-355600">
              <a:lnSpc>
                <a:spcPct val="110000"/>
              </a:lnSpc>
              <a:defRPr/>
            </a:pPr>
            <a:r>
              <a:rPr lang="nl-NL" dirty="0"/>
              <a:t>het soort werk</a:t>
            </a:r>
          </a:p>
          <a:p>
            <a:pPr marL="355600" indent="-355600">
              <a:lnSpc>
                <a:spcPct val="110000"/>
              </a:lnSpc>
              <a:defRPr/>
            </a:pPr>
            <a:r>
              <a:rPr lang="nl-NL" dirty="0">
                <a:solidFill>
                  <a:srgbClr val="FF0000"/>
                </a:solidFill>
              </a:rPr>
              <a:t>kennis en ervaring</a:t>
            </a:r>
          </a:p>
          <a:p>
            <a:pPr marL="355600" indent="-355600">
              <a:lnSpc>
                <a:spcPct val="110000"/>
              </a:lnSpc>
              <a:defRPr/>
            </a:pPr>
            <a:r>
              <a:rPr lang="nl-NL" dirty="0"/>
              <a:t>de werkplek zelf</a:t>
            </a:r>
          </a:p>
          <a:p>
            <a:pPr marL="355600" indent="-355600">
              <a:lnSpc>
                <a:spcPct val="110000"/>
              </a:lnSpc>
              <a:defRPr/>
            </a:pPr>
            <a:r>
              <a:rPr lang="nl-NL" dirty="0"/>
              <a:t>het welzijn</a:t>
            </a:r>
          </a:p>
          <a:p>
            <a:pPr marL="355600" indent="-355600">
              <a:lnSpc>
                <a:spcPct val="110000"/>
              </a:lnSpc>
              <a:defRPr/>
            </a:pPr>
            <a:r>
              <a:rPr lang="nl-NL" dirty="0"/>
              <a:t>de </a:t>
            </a:r>
            <a:r>
              <a:rPr lang="nl-NL" dirty="0">
                <a:solidFill>
                  <a:srgbClr val="FF0000"/>
                </a:solidFill>
              </a:rPr>
              <a:t>mentaliteit (regels naleven)</a:t>
            </a:r>
          </a:p>
          <a:p>
            <a:pPr marL="0" indent="0">
              <a:lnSpc>
                <a:spcPct val="110000"/>
              </a:lnSpc>
              <a:defRPr/>
            </a:pPr>
            <a:endParaRPr lang="nl-NL" dirty="0"/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nl-NL" dirty="0">
                <a:solidFill>
                  <a:srgbClr val="FF0000"/>
                </a:solidFill>
              </a:rPr>
              <a:t>RISICO = KANS x EFFECT</a:t>
            </a:r>
          </a:p>
          <a:p>
            <a:pPr marL="0" indent="0">
              <a:lnSpc>
                <a:spcPct val="110000"/>
              </a:lnSpc>
              <a:buNone/>
              <a:defRPr/>
            </a:pPr>
            <a:endParaRPr lang="nl-NL" dirty="0"/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nl-NL" dirty="0"/>
              <a:t>Risico’s beperken door voorkomen van:</a:t>
            </a:r>
          </a:p>
          <a:p>
            <a:pPr marL="0" indent="0">
              <a:lnSpc>
                <a:spcPct val="110000"/>
              </a:lnSpc>
              <a:defRPr/>
            </a:pPr>
            <a:r>
              <a:rPr lang="nl-NL" dirty="0"/>
              <a:t>   onveilige handelingen </a:t>
            </a:r>
          </a:p>
          <a:p>
            <a:pPr marL="0" indent="0">
              <a:lnSpc>
                <a:spcPct val="110000"/>
              </a:lnSpc>
              <a:defRPr/>
            </a:pPr>
            <a:r>
              <a:rPr lang="nl-NL" dirty="0"/>
              <a:t>   onveilige situaties</a:t>
            </a:r>
          </a:p>
          <a:p>
            <a:pPr marL="0" indent="0">
              <a:lnSpc>
                <a:spcPct val="110000"/>
              </a:lnSpc>
              <a:buNone/>
              <a:defRPr/>
            </a:pPr>
            <a:endParaRPr lang="nl-NL" dirty="0"/>
          </a:p>
          <a:p>
            <a:pPr marL="0" indent="0">
              <a:defRPr/>
            </a:pPr>
            <a:endParaRPr lang="nl-NL" dirty="0"/>
          </a:p>
          <a:p>
            <a:pPr marL="0" indent="0">
              <a:defRPr/>
            </a:pPr>
            <a:endParaRPr lang="nl-NL" dirty="0"/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76120" y="1628800"/>
            <a:ext cx="2332038" cy="299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C509D2-0C1A-47B8-89C1-D3AB17D45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C6D259-E3A9-0915-3245-878D92AB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264" y="556994"/>
            <a:ext cx="4753535" cy="1672499"/>
          </a:xfrm>
        </p:spPr>
        <p:txBody>
          <a:bodyPr>
            <a:normAutofit/>
          </a:bodyPr>
          <a:lstStyle/>
          <a:p>
            <a:endParaRPr lang="nl-NL" sz="4000"/>
          </a:p>
        </p:txBody>
      </p:sp>
      <p:pic>
        <p:nvPicPr>
          <p:cNvPr id="5" name="Picture 3" descr="012">
            <a:extLst>
              <a:ext uri="{FF2B5EF4-FFF2-40B4-BE49-F238E27FC236}">
                <a16:creationId xmlns:a16="http://schemas.microsoft.com/office/drawing/2014/main" id="{9CAE7267-D562-8379-440B-C859F36325DE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11" r="-4" b="-4"/>
          <a:stretch>
            <a:fillRect/>
          </a:stretch>
        </p:blipFill>
        <p:spPr>
          <a:xfrm>
            <a:off x="-4642" y="10"/>
            <a:ext cx="3006061" cy="33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3" descr="regel overtreden">
            <a:extLst>
              <a:ext uri="{FF2B5EF4-FFF2-40B4-BE49-F238E27FC236}">
                <a16:creationId xmlns:a16="http://schemas.microsoft.com/office/drawing/2014/main" id="{8E2B2117-3BC3-2EF9-6AED-5AF3192CE6E3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" r="-1" b="-1"/>
          <a:stretch>
            <a:fillRect/>
          </a:stretch>
        </p:blipFill>
        <p:spPr>
          <a:xfrm>
            <a:off x="3198068" y="10"/>
            <a:ext cx="2991088" cy="33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Tijdelijke aanduiding voor inhoud 3">
            <a:extLst>
              <a:ext uri="{FF2B5EF4-FFF2-40B4-BE49-F238E27FC236}">
                <a16:creationId xmlns:a16="http://schemas.microsoft.com/office/drawing/2014/main" id="{50D5E067-C250-44B8-2631-B31A8A32D877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4" r="1" b="1889"/>
          <a:stretch>
            <a:fillRect/>
          </a:stretch>
        </p:blipFill>
        <p:spPr>
          <a:xfrm>
            <a:off x="-2" y="3518351"/>
            <a:ext cx="6189158" cy="3339649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5DF267-4803-7873-DD65-688A08F6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265" y="2413645"/>
            <a:ext cx="4753534" cy="3694734"/>
          </a:xfrm>
        </p:spPr>
        <p:txBody>
          <a:bodyPr>
            <a:normAutofit/>
          </a:bodyPr>
          <a:lstStyle/>
          <a:p>
            <a:r>
              <a:rPr lang="nl-NL" sz="2000" dirty="0"/>
              <a:t>Ervaring</a:t>
            </a:r>
          </a:p>
          <a:p>
            <a:r>
              <a:rPr lang="nl-NL" sz="2000" dirty="0"/>
              <a:t>Soort werk</a:t>
            </a:r>
          </a:p>
          <a:p>
            <a:r>
              <a:rPr lang="nl-NL" sz="2000" dirty="0"/>
              <a:t>Regels naleven</a:t>
            </a:r>
          </a:p>
          <a:p>
            <a:r>
              <a:rPr lang="nl-NL" sz="2000" dirty="0"/>
              <a:t>Mentaliteit</a:t>
            </a:r>
          </a:p>
        </p:txBody>
      </p:sp>
    </p:spTree>
    <p:extLst>
      <p:ext uri="{BB962C8B-B14F-4D97-AF65-F5344CB8AC3E}">
        <p14:creationId xmlns:p14="http://schemas.microsoft.com/office/powerpoint/2010/main" val="1786041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73370"/>
            <a:ext cx="8229600" cy="922114"/>
          </a:xfrm>
        </p:spPr>
        <p:txBody>
          <a:bodyPr anchor="t">
            <a:noAutofit/>
          </a:bodyPr>
          <a:lstStyle/>
          <a:p>
            <a:pPr algn="l"/>
            <a:r>
              <a:rPr lang="nl-NL" sz="2800" b="1" dirty="0"/>
              <a:t>Voorkomen van ongevallen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nl-NL" sz="2200" dirty="0">
                <a:ea typeface="ＭＳ Ｐゴシック" charset="0"/>
              </a:rPr>
              <a:t>Ongevallen/incidenten voorkomen door:</a:t>
            </a: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sz="2200" dirty="0" err="1">
                <a:ea typeface="ＭＳ Ｐゴシック" charset="0"/>
              </a:rPr>
              <a:t>Voorkomen</a:t>
            </a:r>
            <a:r>
              <a:rPr lang="en-US" sz="2200" dirty="0">
                <a:ea typeface="ＭＳ Ｐゴシック" charset="0"/>
              </a:rPr>
              <a:t> van </a:t>
            </a:r>
            <a:r>
              <a:rPr lang="nl-NL" sz="2200" dirty="0">
                <a:ea typeface="ＭＳ Ｐゴシック" charset="0"/>
              </a:rPr>
              <a:t>onveilige</a:t>
            </a:r>
            <a:r>
              <a:rPr lang="en-US" sz="2200" dirty="0">
                <a:ea typeface="ＭＳ Ｐゴシック" charset="0"/>
              </a:rPr>
              <a:t> </a:t>
            </a:r>
            <a:r>
              <a:rPr lang="en-US" sz="2200" dirty="0" err="1">
                <a:ea typeface="ＭＳ Ｐゴシック" charset="0"/>
              </a:rPr>
              <a:t>handelingen</a:t>
            </a: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sz="2200" dirty="0" err="1">
                <a:ea typeface="ＭＳ Ｐゴシック" charset="0"/>
              </a:rPr>
              <a:t>Voorkomen</a:t>
            </a:r>
            <a:r>
              <a:rPr lang="en-US" sz="2200" dirty="0">
                <a:ea typeface="ＭＳ Ｐゴシック" charset="0"/>
              </a:rPr>
              <a:t> van </a:t>
            </a:r>
            <a:r>
              <a:rPr lang="en-US" sz="2200" dirty="0" err="1">
                <a:ea typeface="ＭＳ Ｐゴシック" charset="0"/>
              </a:rPr>
              <a:t>onveilige</a:t>
            </a:r>
            <a:r>
              <a:rPr lang="en-US" sz="2200" dirty="0">
                <a:ea typeface="ＭＳ Ｐゴシック" charset="0"/>
              </a:rPr>
              <a:t> </a:t>
            </a:r>
            <a:r>
              <a:rPr lang="en-US" sz="2200" dirty="0" err="1">
                <a:ea typeface="ＭＳ Ｐゴシック" charset="0"/>
              </a:rPr>
              <a:t>situaties</a:t>
            </a: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defRPr/>
            </a:pPr>
            <a:endParaRPr lang="en-US" sz="2200" dirty="0">
              <a:ea typeface="ＭＳ Ｐゴシック" charset="0"/>
            </a:endParaRP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2200" dirty="0" err="1">
                <a:ea typeface="ＭＳ Ｐゴシック" charset="0"/>
              </a:rPr>
              <a:t>Maatregelen</a:t>
            </a:r>
            <a:r>
              <a:rPr lang="en-US" sz="2200" dirty="0">
                <a:ea typeface="ＭＳ Ｐゴシック" charset="0"/>
              </a:rPr>
              <a:t>: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 err="1">
                <a:ea typeface="ＭＳ Ｐゴシック" charset="0"/>
              </a:rPr>
              <a:t>taak</a:t>
            </a:r>
            <a:r>
              <a:rPr lang="en-US" sz="2200" dirty="0">
                <a:ea typeface="ＭＳ Ｐゴシック" charset="0"/>
              </a:rPr>
              <a:t>- of </a:t>
            </a:r>
            <a:r>
              <a:rPr lang="en-US" sz="2200" dirty="0" err="1">
                <a:ea typeface="ＭＳ Ｐゴシック" charset="0"/>
              </a:rPr>
              <a:t>werkomschrijving</a:t>
            </a: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sz="2200" dirty="0" err="1">
                <a:ea typeface="ＭＳ Ｐゴシック" charset="0"/>
              </a:rPr>
              <a:t>toezicht</a:t>
            </a:r>
            <a:r>
              <a:rPr lang="en-US" sz="2200" dirty="0">
                <a:ea typeface="ＭＳ Ｐゴシック" charset="0"/>
              </a:rPr>
              <a:t>, </a:t>
            </a:r>
            <a:r>
              <a:rPr lang="en-US" sz="2200" dirty="0" err="1">
                <a:ea typeface="ＭＳ Ｐゴシック" charset="0"/>
              </a:rPr>
              <a:t>instructie</a:t>
            </a:r>
            <a:r>
              <a:rPr lang="en-US" sz="2200" dirty="0">
                <a:ea typeface="ＭＳ Ｐゴシック" charset="0"/>
              </a:rPr>
              <a:t> en </a:t>
            </a:r>
            <a:r>
              <a:rPr lang="en-US" sz="2200" dirty="0" err="1">
                <a:ea typeface="ＭＳ Ｐゴシック" charset="0"/>
              </a:rPr>
              <a:t>voorlichting</a:t>
            </a: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buNone/>
              <a:defRPr/>
            </a:pP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buNone/>
              <a:defRPr/>
            </a:pPr>
            <a:r>
              <a:rPr lang="en-US" sz="2200" dirty="0" err="1">
                <a:ea typeface="ＭＳ Ｐゴシック" charset="0"/>
              </a:rPr>
              <a:t>Preventief</a:t>
            </a:r>
            <a:r>
              <a:rPr lang="en-US" sz="2200" dirty="0">
                <a:ea typeface="ＭＳ Ｐゴシック" charset="0"/>
              </a:rPr>
              <a:t> </a:t>
            </a:r>
            <a:r>
              <a:rPr lang="en-US" sz="2200" dirty="0" err="1">
                <a:ea typeface="ＭＳ Ｐゴシック" charset="0"/>
              </a:rPr>
              <a:t>veiligheidsbeleid</a:t>
            </a:r>
            <a:r>
              <a:rPr lang="en-US" sz="2200" dirty="0">
                <a:ea typeface="ＭＳ Ｐゴシック" charset="0"/>
              </a:rPr>
              <a:t>: </a:t>
            </a:r>
            <a:r>
              <a:rPr lang="en-US" sz="2200" dirty="0" err="1">
                <a:ea typeface="ＭＳ Ｐゴシック" charset="0"/>
              </a:rPr>
              <a:t>techniek</a:t>
            </a:r>
            <a:r>
              <a:rPr lang="en-US" sz="2200" dirty="0">
                <a:ea typeface="ＭＳ Ｐゴシック" charset="0"/>
              </a:rPr>
              <a:t>, </a:t>
            </a:r>
            <a:r>
              <a:rPr lang="en-US" sz="2200" dirty="0" err="1">
                <a:ea typeface="ＭＳ Ｐゴシック" charset="0"/>
              </a:rPr>
              <a:t>organisatie</a:t>
            </a:r>
            <a:r>
              <a:rPr lang="en-US" sz="2200" dirty="0">
                <a:ea typeface="ＭＳ Ｐゴシック" charset="0"/>
              </a:rPr>
              <a:t>,</a:t>
            </a:r>
          </a:p>
          <a:p>
            <a:pPr>
              <a:lnSpc>
                <a:spcPct val="110000"/>
              </a:lnSpc>
              <a:buNone/>
              <a:defRPr/>
            </a:pPr>
            <a:r>
              <a:rPr lang="en-US" sz="2200" dirty="0" err="1">
                <a:ea typeface="ＭＳ Ｐゴシック" charset="0"/>
              </a:rPr>
              <a:t>mens</a:t>
            </a:r>
            <a:r>
              <a:rPr lang="en-US" sz="2200" dirty="0">
                <a:ea typeface="ＭＳ Ｐゴシック" charset="0"/>
              </a:rPr>
              <a:t> en </a:t>
            </a:r>
            <a:r>
              <a:rPr lang="en-US" sz="2200" dirty="0" err="1">
                <a:ea typeface="ＭＳ Ｐゴシック" charset="0"/>
              </a:rPr>
              <a:t>omgeving</a:t>
            </a: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defRPr/>
            </a:pPr>
            <a:endParaRPr lang="en-US" sz="2200" dirty="0">
              <a:ea typeface="ＭＳ Ｐゴシック" charset="0"/>
            </a:endParaRPr>
          </a:p>
          <a:p>
            <a:pPr>
              <a:lnSpc>
                <a:spcPct val="110000"/>
              </a:lnSpc>
              <a:defRPr/>
            </a:pPr>
            <a:endParaRPr lang="en-US" sz="2200" dirty="0">
              <a:ea typeface="ＭＳ Ｐゴシック" charset="0"/>
            </a:endParaRP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824192" y="1916833"/>
            <a:ext cx="24955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84536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TRA en LMRA</a:t>
            </a:r>
            <a:r>
              <a:rPr lang="nl-NL" sz="2800" dirty="0"/>
              <a:t> 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1981200" y="1600201"/>
            <a:ext cx="8435280" cy="452596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nl-NL" sz="2200" dirty="0"/>
              <a:t>Taak Risico Analyse  </a:t>
            </a:r>
            <a:r>
              <a:rPr lang="nl-NL" sz="2200" dirty="0">
                <a:sym typeface="Wingdings" pitchFamily="2" charset="2"/>
              </a:rPr>
              <a:t></a:t>
            </a:r>
            <a:r>
              <a:rPr lang="nl-NL" sz="2200" dirty="0"/>
              <a:t> RI&amp;E op projectniveau</a:t>
            </a:r>
          </a:p>
          <a:p>
            <a:pPr marL="0" lvl="1" indent="0">
              <a:buNone/>
              <a:defRPr/>
            </a:pPr>
            <a:r>
              <a:rPr lang="nl-NL" sz="2200" dirty="0"/>
              <a:t>bij uitvoering van risicovolle taken of bij werken in risicovolle omgeving:</a:t>
            </a:r>
          </a:p>
          <a:p>
            <a:pPr marL="0" indent="0">
              <a:buNone/>
              <a:defRPr/>
            </a:pPr>
            <a:endParaRPr lang="nl-NL" sz="2200" dirty="0"/>
          </a:p>
          <a:p>
            <a:pPr lvl="1">
              <a:buFont typeface="Arial" pitchFamily="34" charset="0"/>
              <a:buChar char="•"/>
              <a:defRPr/>
            </a:pPr>
            <a:r>
              <a:rPr lang="nl-NL" sz="2200" dirty="0"/>
              <a:t>start werkvoorbereiding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nl-NL" sz="2200" dirty="0"/>
              <a:t>analyse van de gevaren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nl-NL" sz="2200" dirty="0"/>
              <a:t>vaststellen maatregelen</a:t>
            </a:r>
          </a:p>
          <a:p>
            <a:pPr marL="0" indent="0">
              <a:buNone/>
              <a:defRPr/>
            </a:pPr>
            <a:endParaRPr lang="nl-NL" sz="2200" dirty="0"/>
          </a:p>
          <a:p>
            <a:pPr marL="0" indent="0">
              <a:defRPr/>
            </a:pPr>
            <a:endParaRPr lang="nl-NL" dirty="0"/>
          </a:p>
        </p:txBody>
      </p:sp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75982B9A-4E47-AE60-D4E4-A788815DB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862570"/>
              </p:ext>
            </p:extLst>
          </p:nvPr>
        </p:nvGraphicFramePr>
        <p:xfrm>
          <a:off x="2595880" y="4368744"/>
          <a:ext cx="8311580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085">
                  <a:extLst>
                    <a:ext uri="{9D8B030D-6E8A-4147-A177-3AD203B41FA5}">
                      <a16:colId xmlns:a16="http://schemas.microsoft.com/office/drawing/2014/main" val="137432286"/>
                    </a:ext>
                  </a:extLst>
                </a:gridCol>
                <a:gridCol w="716534">
                  <a:extLst>
                    <a:ext uri="{9D8B030D-6E8A-4147-A177-3AD203B41FA5}">
                      <a16:colId xmlns:a16="http://schemas.microsoft.com/office/drawing/2014/main" val="1593157776"/>
                    </a:ext>
                  </a:extLst>
                </a:gridCol>
                <a:gridCol w="805434">
                  <a:extLst>
                    <a:ext uri="{9D8B030D-6E8A-4147-A177-3AD203B41FA5}">
                      <a16:colId xmlns:a16="http://schemas.microsoft.com/office/drawing/2014/main" val="523263670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671534499"/>
                    </a:ext>
                  </a:extLst>
                </a:gridCol>
                <a:gridCol w="1657223">
                  <a:extLst>
                    <a:ext uri="{9D8B030D-6E8A-4147-A177-3AD203B41FA5}">
                      <a16:colId xmlns:a16="http://schemas.microsoft.com/office/drawing/2014/main" val="1533956187"/>
                    </a:ext>
                  </a:extLst>
                </a:gridCol>
                <a:gridCol w="716534">
                  <a:extLst>
                    <a:ext uri="{9D8B030D-6E8A-4147-A177-3AD203B41FA5}">
                      <a16:colId xmlns:a16="http://schemas.microsoft.com/office/drawing/2014/main" val="2059309573"/>
                    </a:ext>
                  </a:extLst>
                </a:gridCol>
                <a:gridCol w="805434">
                  <a:extLst>
                    <a:ext uri="{9D8B030D-6E8A-4147-A177-3AD203B41FA5}">
                      <a16:colId xmlns:a16="http://schemas.microsoft.com/office/drawing/2014/main" val="51878632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47569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nl-NL" dirty="0"/>
                        <a:t>Bruto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nl-NL" dirty="0"/>
                        <a:t>Netto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dirty="0"/>
                        <a:t>Risico’s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Kans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Risico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Maatregel(en)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Kans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Risico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2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Natte werkvloer, </a:t>
                      </a:r>
                    </a:p>
                    <a:p>
                      <a:r>
                        <a:rPr lang="nl-NL" dirty="0" err="1"/>
                        <a:t>uitglijdingsgevaar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Rubber zolen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Anti slip vloer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Beide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6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4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5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20</a:t>
                      </a:r>
                    </a:p>
                    <a:p>
                      <a:endParaRPr lang="nl-NL" dirty="0"/>
                    </a:p>
                    <a:p>
                      <a:r>
                        <a:rPr lang="nl-NL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844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610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74043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TRA en LMRA</a:t>
            </a:r>
            <a:r>
              <a:rPr lang="nl-NL" sz="2800" dirty="0"/>
              <a:t> 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nl-NL" sz="2200" dirty="0"/>
              <a:t>Een LMRA of Start Werk Analyse:</a:t>
            </a:r>
          </a:p>
          <a:p>
            <a:pPr marL="355600" indent="-355600">
              <a:defRPr/>
            </a:pPr>
            <a:r>
              <a:rPr lang="nl-NL" sz="2200" dirty="0"/>
              <a:t>uitvoeren voor je echt aan het werk gaat</a:t>
            </a:r>
          </a:p>
          <a:p>
            <a:pPr marL="355600" indent="-355600">
              <a:defRPr/>
            </a:pPr>
            <a:r>
              <a:rPr lang="nl-NL" sz="2200" dirty="0"/>
              <a:t>korte risico controle en </a:t>
            </a:r>
            <a:r>
              <a:rPr lang="ja-JP" altLang="nl-NL" sz="2200" dirty="0"/>
              <a:t>“</a:t>
            </a:r>
            <a:r>
              <a:rPr lang="nl-NL" altLang="ja-JP" sz="2200" dirty="0"/>
              <a:t>zelf check</a:t>
            </a:r>
            <a:r>
              <a:rPr lang="ja-JP" altLang="nl-NL" sz="2200" dirty="0"/>
              <a:t>”</a:t>
            </a:r>
            <a:endParaRPr lang="nl-NL" altLang="ja-JP" sz="2200" dirty="0"/>
          </a:p>
          <a:p>
            <a:pPr marL="355600" indent="-355600">
              <a:defRPr/>
            </a:pPr>
            <a:r>
              <a:rPr lang="nl-NL" sz="2200" dirty="0"/>
              <a:t>eerst denken dan pas doen</a:t>
            </a:r>
          </a:p>
          <a:p>
            <a:pPr marL="355600" indent="-355600">
              <a:defRPr/>
            </a:pPr>
            <a:endParaRPr lang="nl-NL" sz="2200" dirty="0"/>
          </a:p>
          <a:p>
            <a:pPr marL="355600" indent="-355600">
              <a:defRPr/>
            </a:pPr>
            <a:endParaRPr lang="nl-NL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219050" y="1721291"/>
            <a:ext cx="5619218" cy="4560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1970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3695E-FA6D-A1BE-C9ED-E6E085DB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Pauze?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83BD83-E204-C9FF-F845-E34DF1B25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502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3606" y="289116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Risico’s van de werkomgeving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200" dirty="0"/>
              <a:t>Gevaar voor:</a:t>
            </a:r>
          </a:p>
          <a:p>
            <a:r>
              <a:rPr lang="nl-NL" sz="2200" dirty="0"/>
              <a:t>vallen</a:t>
            </a:r>
          </a:p>
          <a:p>
            <a:r>
              <a:rPr lang="nl-NL" sz="2200" dirty="0"/>
              <a:t>uitglijden</a:t>
            </a:r>
          </a:p>
          <a:p>
            <a:r>
              <a:rPr lang="nl-NL" sz="2200" dirty="0"/>
              <a:t>verstappen</a:t>
            </a:r>
          </a:p>
          <a:p>
            <a:r>
              <a:rPr lang="nl-NL" sz="2200" dirty="0"/>
              <a:t>slechte verlichting</a:t>
            </a:r>
          </a:p>
          <a:p>
            <a:r>
              <a:rPr lang="nl-NL" sz="2200" dirty="0"/>
              <a:t>geluidshinder (&gt;80dB(A))</a:t>
            </a:r>
          </a:p>
          <a:p>
            <a:endParaRPr lang="nl-NL" sz="2200" dirty="0"/>
          </a:p>
          <a:p>
            <a:pPr marL="0" indent="0">
              <a:buNone/>
            </a:pPr>
            <a:r>
              <a:rPr lang="nl-NL" sz="2200" dirty="0"/>
              <a:t>Veilige werkomgeving door:</a:t>
            </a:r>
          </a:p>
          <a:p>
            <a:r>
              <a:rPr lang="nl-NL" sz="2200" dirty="0"/>
              <a:t>goede werkplekinrichting</a:t>
            </a:r>
          </a:p>
          <a:p>
            <a:r>
              <a:rPr lang="nl-NL" sz="2200" dirty="0" err="1"/>
              <a:t>good</a:t>
            </a:r>
            <a:r>
              <a:rPr lang="nl-NL" sz="2200" dirty="0"/>
              <a:t> </a:t>
            </a:r>
            <a:r>
              <a:rPr lang="nl-NL" sz="2200" dirty="0" err="1"/>
              <a:t>housekeeping</a:t>
            </a:r>
            <a:r>
              <a:rPr lang="nl-NL" sz="2200" dirty="0"/>
              <a:t> </a:t>
            </a:r>
            <a:r>
              <a:rPr lang="nl-NL" sz="2200" dirty="0">
                <a:solidFill>
                  <a:srgbClr val="FF0000"/>
                </a:solidFill>
              </a:rPr>
              <a:t>Opruimen en schoon</a:t>
            </a:r>
          </a:p>
          <a:p>
            <a:r>
              <a:rPr lang="nl-NL" sz="2200" dirty="0"/>
              <a:t>goede verlichting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867898" y="1523330"/>
            <a:ext cx="2206290" cy="2438784"/>
          </a:xfrm>
          <a:prstGeom prst="rect">
            <a:avLst/>
          </a:prstGeom>
        </p:spPr>
      </p:pic>
      <p:pic>
        <p:nvPicPr>
          <p:cNvPr id="15" name="Afbeelding 14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084566" y="4282012"/>
            <a:ext cx="1772955" cy="20103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46049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nl-NL" dirty="0"/>
              <a:t>Schone werkplek. </a:t>
            </a:r>
            <a:r>
              <a:rPr lang="nl-NL" altLang="nl-NL" dirty="0" err="1">
                <a:solidFill>
                  <a:srgbClr val="FF0000"/>
                </a:solidFill>
              </a:rPr>
              <a:t>Good</a:t>
            </a:r>
            <a:r>
              <a:rPr lang="nl-NL" altLang="nl-NL" dirty="0">
                <a:solidFill>
                  <a:srgbClr val="FF0000"/>
                </a:solidFill>
              </a:rPr>
              <a:t> </a:t>
            </a:r>
            <a:r>
              <a:rPr lang="nl-NL" altLang="nl-NL" dirty="0" err="1">
                <a:solidFill>
                  <a:srgbClr val="FF0000"/>
                </a:solidFill>
              </a:rPr>
              <a:t>housekeeping</a:t>
            </a:r>
            <a:endParaRPr lang="nl-NL" altLang="nl-NL" dirty="0">
              <a:solidFill>
                <a:srgbClr val="FF0000"/>
              </a:solidFill>
            </a:endParaRPr>
          </a:p>
        </p:txBody>
      </p:sp>
      <p:pic>
        <p:nvPicPr>
          <p:cNvPr id="93187" name="Picture 3" descr="untitled7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0885" y="905194"/>
            <a:ext cx="7570788" cy="56784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3053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7D081-2F51-4BD2-A8A3-C8E7D0EA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Accu heggenschaar. Wat gaat fout?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1170BFA9-B7BE-42DD-BE9E-535F04683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955106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1B236D-9577-4D99-A56B-EEA35F43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Accu Heggenschaar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6585CD7E-FE20-431F-9124-E3A0779241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24" y="1876108"/>
            <a:ext cx="6244167" cy="4683125"/>
          </a:xfr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7610A87-3235-42D0-8C22-5DEB2E98F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79E91221-0EE7-4FE6-B99C-840BC560227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925" y="1186339"/>
            <a:ext cx="4041775" cy="3031331"/>
          </a:xfr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7616C2-0FC4-928C-0577-B98F14454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777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F303F-97F0-40CF-8CE4-DF9CA566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Dus </a:t>
            </a:r>
            <a:r>
              <a:rPr lang="nl-NL" dirty="0" err="1"/>
              <a:t>PBM’s</a:t>
            </a:r>
            <a:r>
              <a:rPr lang="nl-NL" dirty="0"/>
              <a:t> !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77711704-6D8D-45E3-9FCC-BE031F261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1367034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74819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Risico’s van lichamelijke belasting  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200" dirty="0"/>
              <a:t>Veilig tillen: </a:t>
            </a:r>
          </a:p>
          <a:p>
            <a:r>
              <a:rPr lang="nl-NL" sz="2200" dirty="0"/>
              <a:t>niet meer dan 23 kg</a:t>
            </a:r>
          </a:p>
          <a:p>
            <a:r>
              <a:rPr lang="nl-NL" sz="2200" dirty="0"/>
              <a:t>gebruik goede </a:t>
            </a:r>
            <a:r>
              <a:rPr lang="nl-NL" sz="2200" dirty="0" err="1"/>
              <a:t>PBM’s</a:t>
            </a:r>
            <a:r>
              <a:rPr lang="nl-NL" sz="2200" dirty="0"/>
              <a:t>: veiligheidsschoenen, handschoenen</a:t>
            </a:r>
          </a:p>
          <a:p>
            <a:r>
              <a:rPr lang="nl-NL" sz="2200" dirty="0"/>
              <a:t>gebruik </a:t>
            </a:r>
            <a:r>
              <a:rPr lang="nl-NL" sz="2200" dirty="0">
                <a:solidFill>
                  <a:srgbClr val="FF0000"/>
                </a:solidFill>
              </a:rPr>
              <a:t>tilhulpmiddelen</a:t>
            </a:r>
          </a:p>
          <a:p>
            <a:r>
              <a:rPr lang="nl-NL" sz="2200" dirty="0"/>
              <a:t>til met twee personen</a:t>
            </a:r>
          </a:p>
          <a:p>
            <a:endParaRPr lang="nl-NL" sz="2200" dirty="0"/>
          </a:p>
          <a:p>
            <a:pPr marL="0" indent="0">
              <a:buNone/>
            </a:pPr>
            <a:r>
              <a:rPr lang="nl-NL" sz="2200" dirty="0"/>
              <a:t>Veilig tillen:</a:t>
            </a:r>
          </a:p>
          <a:p>
            <a:r>
              <a:rPr lang="nl-NL" sz="2200" dirty="0"/>
              <a:t>maak een </a:t>
            </a:r>
            <a:r>
              <a:rPr lang="nl-NL" sz="2200" dirty="0" err="1"/>
              <a:t>tilplan</a:t>
            </a:r>
            <a:endParaRPr lang="nl-NL" sz="2200" dirty="0"/>
          </a:p>
          <a:p>
            <a:r>
              <a:rPr lang="nl-NL" sz="2200" dirty="0"/>
              <a:t>juiste houding, afwisselende houding</a:t>
            </a:r>
          </a:p>
          <a:p>
            <a:r>
              <a:rPr lang="nl-NL" sz="2200" dirty="0"/>
              <a:t>bepaal eigen tempo</a:t>
            </a:r>
          </a:p>
          <a:p>
            <a:r>
              <a:rPr lang="nl-NL" sz="2200" dirty="0"/>
              <a:t>regelmatig een korte pauze</a:t>
            </a:r>
          </a:p>
          <a:p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</p:txBody>
      </p:sp>
      <p:sp>
        <p:nvSpPr>
          <p:cNvPr id="7" name="Tekstvak 6"/>
          <p:cNvSpPr txBox="1"/>
          <p:nvPr/>
        </p:nvSpPr>
        <p:spPr>
          <a:xfrm>
            <a:off x="7104112" y="450912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10" name="Picture 4" descr="tillen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744072" y="4149080"/>
            <a:ext cx="3669400" cy="2154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3053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tilhulpmiddel. Zuignap.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7" y="1725984"/>
            <a:ext cx="7541600" cy="4223296"/>
          </a:xfrm>
        </p:spPr>
      </p:pic>
    </p:spTree>
    <p:extLst>
      <p:ext uri="{BB962C8B-B14F-4D97-AF65-F5344CB8AC3E}">
        <p14:creationId xmlns:p14="http://schemas.microsoft.com/office/powerpoint/2010/main" val="3184817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89699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Lichamelijke belasting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200" dirty="0"/>
              <a:t>Trillingen: </a:t>
            </a:r>
          </a:p>
          <a:p>
            <a:r>
              <a:rPr lang="nl-NL" sz="2200" dirty="0"/>
              <a:t>vermijd langdurige en regelmatige blootstelling</a:t>
            </a:r>
          </a:p>
          <a:p>
            <a:r>
              <a:rPr lang="nl-NL" sz="2200" dirty="0"/>
              <a:t>gebruik trillingdempende materialen of isolatie</a:t>
            </a:r>
          </a:p>
          <a:p>
            <a:r>
              <a:rPr lang="nl-NL" sz="2200" dirty="0"/>
              <a:t>PBM: trillingdempende handschoenen</a:t>
            </a:r>
          </a:p>
          <a:p>
            <a:r>
              <a:rPr lang="nl-NL" sz="2200" dirty="0"/>
              <a:t>regelmatig een korte pauze</a:t>
            </a:r>
          </a:p>
          <a:p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616281" y="1988841"/>
            <a:ext cx="1619209" cy="4279501"/>
          </a:xfrm>
          <a:prstGeom prst="rect">
            <a:avLst/>
          </a:prstGeom>
        </p:spPr>
      </p:pic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A42EB360-781B-79E0-370C-AFFA1E1FC12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590" y="4001294"/>
            <a:ext cx="2710035" cy="271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62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9543" y="274819"/>
            <a:ext cx="8229600" cy="1022792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Veiligheidssignalering op de werkplek  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981200" y="1484785"/>
            <a:ext cx="8229600" cy="46413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 sz="2200" dirty="0"/>
              <a:t>Signalering:</a:t>
            </a:r>
          </a:p>
          <a:p>
            <a:r>
              <a:rPr lang="nl-NL" sz="2200" dirty="0"/>
              <a:t>Verbod (</a:t>
            </a:r>
            <a:r>
              <a:rPr lang="nl-NL" sz="2200" dirty="0">
                <a:solidFill>
                  <a:srgbClr val="FF0000"/>
                </a:solidFill>
              </a:rPr>
              <a:t>mag niet!)</a:t>
            </a:r>
          </a:p>
          <a:p>
            <a:r>
              <a:rPr lang="nl-NL" sz="2200" dirty="0"/>
              <a:t>Gebod (</a:t>
            </a:r>
            <a:r>
              <a:rPr lang="nl-NL" sz="2200" dirty="0">
                <a:solidFill>
                  <a:srgbClr val="FF0000"/>
                </a:solidFill>
              </a:rPr>
              <a:t>doe dit!)</a:t>
            </a:r>
          </a:p>
          <a:p>
            <a:r>
              <a:rPr lang="nl-NL" sz="2200" dirty="0"/>
              <a:t>Waarschuwing (</a:t>
            </a:r>
            <a:r>
              <a:rPr lang="nl-NL" sz="2200" dirty="0">
                <a:solidFill>
                  <a:srgbClr val="FF0000"/>
                </a:solidFill>
              </a:rPr>
              <a:t>Pas op!)</a:t>
            </a:r>
          </a:p>
          <a:p>
            <a:r>
              <a:rPr lang="nl-NL" sz="2200" dirty="0"/>
              <a:t>Veiligheidsvoorziening </a:t>
            </a:r>
            <a:r>
              <a:rPr lang="nl-NL" sz="2200" dirty="0">
                <a:solidFill>
                  <a:srgbClr val="FF0000"/>
                </a:solidFill>
              </a:rPr>
              <a:t>(groene borden)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r>
              <a:rPr lang="nl-NL" sz="2200" dirty="0">
                <a:solidFill>
                  <a:srgbClr val="FF0000"/>
                </a:solidFill>
              </a:rPr>
              <a:t>Markering</a:t>
            </a:r>
            <a:r>
              <a:rPr lang="nl-NL" sz="2200" dirty="0"/>
              <a:t> en strepen:</a:t>
            </a:r>
          </a:p>
          <a:p>
            <a:r>
              <a:rPr lang="nl-NL" sz="2200" dirty="0"/>
              <a:t>markeren van gevaren op de werkvloer </a:t>
            </a:r>
          </a:p>
          <a:p>
            <a:r>
              <a:rPr lang="nl-NL" sz="2200" dirty="0"/>
              <a:t>looproutes, doorgangen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r>
              <a:rPr lang="nl-NL" sz="2200" dirty="0"/>
              <a:t>Lint:</a:t>
            </a:r>
          </a:p>
          <a:p>
            <a:r>
              <a:rPr lang="nl-NL" sz="2200" dirty="0"/>
              <a:t>markeren gevaarlijke situatie</a:t>
            </a:r>
          </a:p>
          <a:p>
            <a:r>
              <a:rPr lang="nl-NL" sz="2200" dirty="0"/>
              <a:t>niet gebruiken als fysieke afzetting</a:t>
            </a:r>
          </a:p>
          <a:p>
            <a:pPr marL="0" indent="0">
              <a:buNone/>
            </a:pPr>
            <a:endParaRPr lang="nl-NL" sz="2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2" cstate="email"/>
          <a:srcRect l="3072" t="916" b="1"/>
          <a:stretch/>
        </p:blipFill>
        <p:spPr>
          <a:xfrm>
            <a:off x="7896201" y="1700808"/>
            <a:ext cx="2272321" cy="3215374"/>
          </a:xfrm>
          <a:prstGeom prst="rect">
            <a:avLst/>
          </a:prstGeom>
        </p:spPr>
      </p:pic>
      <p:pic>
        <p:nvPicPr>
          <p:cNvPr id="6" name="Picture 4" descr="obstakel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896200" y="5157192"/>
            <a:ext cx="2304256" cy="4160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3270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74819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Persoonlijke bescherming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dirty="0"/>
              <a:t>Persoonlijke beschermingsmiddelen:</a:t>
            </a:r>
          </a:p>
          <a:p>
            <a:r>
              <a:rPr lang="nl-NL" sz="2200" dirty="0"/>
              <a:t>door werkgever beschikbaar gesteld</a:t>
            </a:r>
          </a:p>
          <a:p>
            <a:r>
              <a:rPr lang="nl-NL" sz="2200" dirty="0"/>
              <a:t>verplicht dragen als werk of werkplek dit vereist</a:t>
            </a:r>
          </a:p>
          <a:p>
            <a:endParaRPr lang="nl-NL" sz="2200" dirty="0"/>
          </a:p>
          <a:p>
            <a:pPr marL="0" indent="0">
              <a:buNone/>
            </a:pPr>
            <a:r>
              <a:rPr lang="nl-NL" sz="2200" dirty="0"/>
              <a:t>Eisen en gebruik:</a:t>
            </a:r>
          </a:p>
          <a:p>
            <a:r>
              <a:rPr lang="nl-NL" sz="2200" dirty="0"/>
              <a:t>gebruikshandleiding in Nederlands</a:t>
            </a:r>
          </a:p>
          <a:p>
            <a:r>
              <a:rPr lang="nl-NL" sz="2200" dirty="0"/>
              <a:t>CE-keurmerk verplicht</a:t>
            </a:r>
          </a:p>
          <a:p>
            <a:r>
              <a:rPr lang="nl-NL" sz="2200" dirty="0"/>
              <a:t>juist gebruiken en regelmatig controleren</a:t>
            </a:r>
          </a:p>
          <a:p>
            <a:r>
              <a:rPr lang="nl-NL" sz="2200" dirty="0"/>
              <a:t>onderhoud en reinigen volgens instructie</a:t>
            </a:r>
          </a:p>
          <a:p>
            <a:r>
              <a:rPr lang="nl-NL" sz="2200" dirty="0"/>
              <a:t>veilig en zorgvuldig opslaan</a:t>
            </a:r>
          </a:p>
          <a:p>
            <a:endParaRPr lang="nl-NL" sz="2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582877" y="1453295"/>
            <a:ext cx="1794999" cy="490769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Pbm?</a:t>
            </a:r>
            <a:endParaRPr lang="nl-NL" altLang="nl-NL"/>
          </a:p>
        </p:txBody>
      </p:sp>
      <p:pic>
        <p:nvPicPr>
          <p:cNvPr id="82947" name="Picture 3" descr="017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95550" y="1133476"/>
            <a:ext cx="7632700" cy="5724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48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72205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Persoonlijke bescherming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dirty="0"/>
              <a:t>Lichaamsbescherming:</a:t>
            </a:r>
          </a:p>
          <a:p>
            <a:r>
              <a:rPr lang="nl-NL" sz="2200" dirty="0"/>
              <a:t>overall</a:t>
            </a:r>
          </a:p>
          <a:p>
            <a:r>
              <a:rPr lang="nl-NL" sz="2200" dirty="0" err="1"/>
              <a:t>vlamvertragende</a:t>
            </a:r>
            <a:r>
              <a:rPr lang="nl-NL" sz="2200" dirty="0"/>
              <a:t> kleding</a:t>
            </a:r>
          </a:p>
          <a:p>
            <a:r>
              <a:rPr lang="nl-NL" sz="2200" dirty="0"/>
              <a:t>signaalkleding</a:t>
            </a:r>
          </a:p>
          <a:p>
            <a:r>
              <a:rPr lang="nl-NL" sz="2200" dirty="0">
                <a:solidFill>
                  <a:srgbClr val="FF0000"/>
                </a:solidFill>
              </a:rPr>
              <a:t>antistatische</a:t>
            </a:r>
            <a:r>
              <a:rPr lang="nl-NL" sz="2200" dirty="0"/>
              <a:t> kleding</a:t>
            </a:r>
          </a:p>
          <a:p>
            <a:endParaRPr lang="nl-NL" sz="2200" dirty="0"/>
          </a:p>
          <a:p>
            <a:endParaRPr lang="nl-NL" sz="2200" dirty="0"/>
          </a:p>
          <a:p>
            <a:endParaRPr lang="nl-NL" sz="2200" dirty="0"/>
          </a:p>
          <a:p>
            <a:endParaRPr lang="nl-NL" sz="2200" dirty="0"/>
          </a:p>
          <a:p>
            <a:endParaRPr lang="nl-NL" sz="2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9552384" y="1916832"/>
            <a:ext cx="900000" cy="885432"/>
          </a:xfrm>
          <a:prstGeom prst="rect">
            <a:avLst/>
          </a:prstGeom>
        </p:spPr>
      </p:pic>
      <p:pic>
        <p:nvPicPr>
          <p:cNvPr id="6" name="Afbeelding 5" descr="Tricorp veiligheidsvest V-RWS-ZIP Oranje"/>
          <p:cNvPicPr/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5015880" y="4725145"/>
            <a:ext cx="1512168" cy="145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-main" descr="99005 Winteroverall Grebbe RWS"/>
          <p:cNvPicPr/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6744073" y="3356993"/>
            <a:ext cx="1745713" cy="25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fancy_img" descr="http://www.bedrijfs-kleding.nl/images/y270.jpg"/>
          <p:cNvPicPr/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8976321" y="3429001"/>
            <a:ext cx="1237455" cy="2655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Afbeelding 8" descr="Symbol EN ISO 11612"/>
          <p:cNvPicPr/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5335568" y="2421657"/>
            <a:ext cx="431224" cy="43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Afbeelding 9" descr="icon-schild-explosie.png"/>
          <p:cNvPicPr/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4943872" y="3674338"/>
            <a:ext cx="360040" cy="37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76776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Anti statisch….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528" y="1600201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val="284074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66BF0-7D8B-4F81-856B-07C6E3C3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5A5066A5-D04C-4850-97C2-38CBFBC4F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9885" y="2287975"/>
            <a:ext cx="4909017" cy="3681762"/>
          </a:xfr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2A68F2B-FA69-431A-AC0F-3A654BD7AC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4346" y="825874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76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74638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PBM voor hoofd, handen en voeten</a:t>
            </a:r>
            <a:endParaRPr lang="nl-NL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981200" y="1417639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dirty="0"/>
              <a:t>Hoofdbescherming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r>
              <a:rPr lang="nl-NL" sz="2200" dirty="0"/>
              <a:t>Handbescherming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r>
              <a:rPr lang="nl-NL" sz="2200" dirty="0"/>
              <a:t>Voetbescherming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802085" y="1417638"/>
            <a:ext cx="1260000" cy="1260616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7071397" y="2813143"/>
            <a:ext cx="1146913" cy="1147473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832781" y="4451720"/>
            <a:ext cx="900000" cy="892541"/>
          </a:xfrm>
          <a:prstGeom prst="rect">
            <a:avLst/>
          </a:prstGeom>
        </p:spPr>
      </p:pic>
      <p:pic>
        <p:nvPicPr>
          <p:cNvPr id="13" name="Afbeelding 12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7094762" y="4323915"/>
            <a:ext cx="1260000" cy="1256356"/>
          </a:xfrm>
          <a:prstGeom prst="rect">
            <a:avLst/>
          </a:prstGeom>
        </p:spPr>
      </p:pic>
      <p:pic>
        <p:nvPicPr>
          <p:cNvPr id="14" name="Afbeelding 13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>
            <a:off x="5811396" y="4302683"/>
            <a:ext cx="1260000" cy="1260616"/>
          </a:xfrm>
          <a:prstGeom prst="rect">
            <a:avLst/>
          </a:prstGeom>
        </p:spPr>
      </p:pic>
      <p:pic>
        <p:nvPicPr>
          <p:cNvPr id="51202" name="Picture 2" descr="Handschoen Ansell AlphaTec 58-535, 356mm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5663953" y="2852936"/>
            <a:ext cx="989804" cy="1247652"/>
          </a:xfrm>
          <a:prstGeom prst="rect">
            <a:avLst/>
          </a:prstGeom>
          <a:noFill/>
        </p:spPr>
      </p:pic>
      <p:pic>
        <p:nvPicPr>
          <p:cNvPr id="15" name="Afbeelding 14" descr="C:\Users\Ulli\Documents\praktijkgids arbeidsveiligheid 2011\kluwer\images\8120.jpg"/>
          <p:cNvPicPr/>
          <p:nvPr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8904312" y="2996952"/>
            <a:ext cx="792088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Afbeelding 15" descr="C:\Users\Ulli\Documents\praktijkgids arbeidsveiligheid 2011\kluwer\images\8116.jpg"/>
          <p:cNvPicPr/>
          <p:nvPr/>
        </p:nvPicPr>
        <p:blipFill>
          <a:blip r:embed="rId10" cstate="email"/>
          <a:srcRect/>
          <a:stretch>
            <a:fillRect/>
          </a:stretch>
        </p:blipFill>
        <p:spPr bwMode="auto">
          <a:xfrm>
            <a:off x="8832304" y="1700808"/>
            <a:ext cx="792088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413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9543" y="260997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Oogbescherming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981200" y="1453363"/>
            <a:ext cx="8229600" cy="4672801"/>
          </a:xfrm>
        </p:spPr>
        <p:txBody>
          <a:bodyPr>
            <a:normAutofit fontScale="92500" lnSpcReduction="10000"/>
          </a:bodyPr>
          <a:lstStyle/>
          <a:p>
            <a:endParaRPr lang="nl-NL" sz="2200" dirty="0"/>
          </a:p>
          <a:p>
            <a:r>
              <a:rPr lang="nl-NL" sz="2200" dirty="0"/>
              <a:t>veiligheidsbril </a:t>
            </a:r>
          </a:p>
          <a:p>
            <a:r>
              <a:rPr lang="nl-NL" sz="2200" dirty="0"/>
              <a:t>ruimzichtbril</a:t>
            </a:r>
          </a:p>
          <a:p>
            <a:endParaRPr lang="nl-NL" sz="2200" dirty="0"/>
          </a:p>
          <a:p>
            <a:r>
              <a:rPr lang="nl-NL" sz="2200" dirty="0"/>
              <a:t>gelaatscherm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r>
              <a:rPr lang="nl-NL" sz="2200" dirty="0"/>
              <a:t>Specifieke oogbescherming:</a:t>
            </a:r>
          </a:p>
          <a:p>
            <a:r>
              <a:rPr lang="nl-NL" sz="2200" dirty="0"/>
              <a:t>lasbril</a:t>
            </a:r>
          </a:p>
          <a:p>
            <a:r>
              <a:rPr lang="nl-NL" sz="2200" dirty="0"/>
              <a:t>laskap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941603" y="1811009"/>
            <a:ext cx="900000" cy="900439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941603" y="3440018"/>
            <a:ext cx="900000" cy="885432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5743024" y="1599728"/>
            <a:ext cx="1322354" cy="1323000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5758522" y="3069094"/>
            <a:ext cx="1260000" cy="1256356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>
            <a:off x="7163400" y="3069094"/>
            <a:ext cx="1260000" cy="1256356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7171485" y="4907517"/>
            <a:ext cx="1260000" cy="1258702"/>
          </a:xfrm>
          <a:prstGeom prst="rect">
            <a:avLst/>
          </a:prstGeom>
        </p:spPr>
      </p:pic>
      <p:pic>
        <p:nvPicPr>
          <p:cNvPr id="50178" name="Picture 2" descr="Uvex Ultravision 9301-603"/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7392144" y="1844824"/>
            <a:ext cx="952500" cy="952500"/>
          </a:xfrm>
          <a:prstGeom prst="rect">
            <a:avLst/>
          </a:prstGeom>
          <a:noFill/>
        </p:spPr>
      </p:pic>
      <p:pic>
        <p:nvPicPr>
          <p:cNvPr id="50180" name="Picture 4" descr="Honeywell Lasbril Amigo Xanthos"/>
          <p:cNvPicPr>
            <a:picLocks noChangeAspect="1" noChangeArrowheads="1"/>
          </p:cNvPicPr>
          <p:nvPr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5663952" y="4797152"/>
            <a:ext cx="1440160" cy="1440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0767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nl-NL"/>
              <a:t>Rondvliegende delen</a:t>
            </a:r>
          </a:p>
        </p:txBody>
      </p:sp>
      <p:pic>
        <p:nvPicPr>
          <p:cNvPr id="66563" name="Picture 3" descr="untitled8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1484314"/>
            <a:ext cx="3054350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80439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0849" y="286476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Gehoorbescherming</a:t>
            </a:r>
            <a:endParaRPr lang="nl-NL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981200" y="1257041"/>
            <a:ext cx="8229600" cy="4869123"/>
          </a:xfrm>
        </p:spPr>
        <p:txBody>
          <a:bodyPr>
            <a:normAutofit fontScale="92500" lnSpcReduction="20000"/>
          </a:bodyPr>
          <a:lstStyle/>
          <a:p>
            <a:endParaRPr lang="nl-NL" sz="2200" dirty="0"/>
          </a:p>
          <a:p>
            <a:r>
              <a:rPr lang="nl-NL" sz="2200" dirty="0" err="1"/>
              <a:t>oorwatten</a:t>
            </a:r>
            <a:r>
              <a:rPr lang="nl-NL" sz="2200" dirty="0"/>
              <a:t>  10 dB(A)</a:t>
            </a:r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 err="1"/>
              <a:t>oorpluggen</a:t>
            </a:r>
            <a:r>
              <a:rPr lang="nl-NL" sz="2200" dirty="0"/>
              <a:t> 10 dB(A)</a:t>
            </a:r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/>
              <a:t>oordoppen 10-15 dB(A)</a:t>
            </a:r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 err="1"/>
              <a:t>oorkappen</a:t>
            </a:r>
            <a:r>
              <a:rPr lang="nl-NL" sz="2200" dirty="0"/>
              <a:t> 25 dB(A)</a:t>
            </a:r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 err="1"/>
              <a:t>otoplastieken</a:t>
            </a:r>
            <a:r>
              <a:rPr lang="nl-NL" sz="2200" dirty="0"/>
              <a:t> 25 dB(A)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460120" y="1252946"/>
            <a:ext cx="1260000" cy="926167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6446296" y="2161926"/>
            <a:ext cx="1260000" cy="1260616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6590533" y="3388835"/>
            <a:ext cx="971526" cy="827569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6674444" y="4554752"/>
            <a:ext cx="971526" cy="971122"/>
          </a:xfrm>
          <a:prstGeom prst="rect">
            <a:avLst/>
          </a:prstGeom>
        </p:spPr>
      </p:pic>
      <p:pic>
        <p:nvPicPr>
          <p:cNvPr id="10" name="Afbeelding 9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>
            <a:off x="6460121" y="5637094"/>
            <a:ext cx="1400175" cy="1085850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9624188" y="1651837"/>
            <a:ext cx="900000" cy="88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84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3788" y="274819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Valbeveiliging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nl-NL" sz="2200" dirty="0"/>
          </a:p>
          <a:p>
            <a:r>
              <a:rPr lang="nl-NL" sz="2200" dirty="0"/>
              <a:t>Veiligheidsharnas</a:t>
            </a:r>
          </a:p>
          <a:p>
            <a:endParaRPr lang="nl-NL" sz="2200" dirty="0"/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/>
              <a:t>Valopvangsystemen</a:t>
            </a:r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endParaRPr lang="nl-NL" sz="2200" dirty="0"/>
          </a:p>
          <a:p>
            <a:pPr marL="0" indent="0">
              <a:buNone/>
            </a:pPr>
            <a:r>
              <a:rPr lang="nl-NL" sz="2200" dirty="0"/>
              <a:t>                                                    vanglijn met lijnklem   </a:t>
            </a:r>
            <a:r>
              <a:rPr lang="nl-NL" sz="2200" dirty="0" err="1"/>
              <a:t>valopvangapparaat</a:t>
            </a:r>
            <a:endParaRPr lang="nl-NL" sz="2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9568489" y="1844824"/>
            <a:ext cx="900000" cy="892808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5231904" y="1610131"/>
            <a:ext cx="2088072" cy="2082033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5826332" y="4007119"/>
            <a:ext cx="1493645" cy="1489326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8213775" y="3863183"/>
            <a:ext cx="1638000" cy="163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22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9A34A51-5147-4361-AB73-928845B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Snoeien in 1869…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14ECF58-9D94-444A-BFAC-A31333AB7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572" y="6602"/>
            <a:ext cx="5138548" cy="6851399"/>
          </a:xfrm>
        </p:spPr>
      </p:pic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AB5837D-A714-457E-A18A-DEC71F8B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37614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1756" y="274819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Adembescherming</a:t>
            </a:r>
            <a:endParaRPr lang="nl-NL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16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dirty="0"/>
              <a:t>Afhankelijke adembescherming:</a:t>
            </a:r>
          </a:p>
          <a:p>
            <a:r>
              <a:rPr lang="nl-NL" sz="2200" dirty="0"/>
              <a:t>stofmasker</a:t>
            </a:r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 err="1"/>
              <a:t>halfgelaat</a:t>
            </a:r>
            <a:r>
              <a:rPr lang="nl-NL" sz="2200" dirty="0"/>
              <a:t> filtermasker</a:t>
            </a:r>
          </a:p>
          <a:p>
            <a:endParaRPr lang="nl-NL" sz="2200" dirty="0"/>
          </a:p>
          <a:p>
            <a:endParaRPr lang="nl-NL" sz="2200" dirty="0"/>
          </a:p>
          <a:p>
            <a:r>
              <a:rPr lang="nl-NL" sz="2200" dirty="0"/>
              <a:t>volgelaat filtermasker</a:t>
            </a:r>
          </a:p>
          <a:p>
            <a:endParaRPr lang="nl-NL" sz="2200" dirty="0"/>
          </a:p>
          <a:p>
            <a:endParaRPr lang="nl-NL" sz="2200" dirty="0"/>
          </a:p>
          <a:p>
            <a:pPr marL="0" indent="0">
              <a:buNone/>
            </a:pPr>
            <a:r>
              <a:rPr lang="nl-NL" sz="2200" dirty="0"/>
              <a:t>Onafhankelijke adembescherming:</a:t>
            </a:r>
          </a:p>
          <a:p>
            <a:pPr marL="0" indent="0">
              <a:buNone/>
            </a:pPr>
            <a:endParaRPr lang="nl-NL" sz="2200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896200" y="4581129"/>
            <a:ext cx="1511262" cy="1800623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6096000" y="1916833"/>
            <a:ext cx="929884" cy="927195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6023992" y="2924944"/>
            <a:ext cx="971526" cy="885866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 rotWithShape="1">
          <a:blip r:embed="rId5" cstate="email"/>
          <a:srcRect t="10540" b="6882"/>
          <a:stretch/>
        </p:blipFill>
        <p:spPr>
          <a:xfrm>
            <a:off x="5951984" y="3861048"/>
            <a:ext cx="1183126" cy="1019076"/>
          </a:xfrm>
          <a:prstGeom prst="rect">
            <a:avLst/>
          </a:prstGeom>
        </p:spPr>
      </p:pic>
      <p:pic>
        <p:nvPicPr>
          <p:cNvPr id="10" name="Afbeelding 9" descr="C:\Users\Ulli\Documents\praktijkgids arbeidsveiligheid 2011\kluwer\images\8118.jpg"/>
          <p:cNvPicPr/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9624392" y="2132856"/>
            <a:ext cx="720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06607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NL"/>
              <a:t>adembescherming</a:t>
            </a:r>
            <a:endParaRPr lang="nl-NL" altLang="nl-NL"/>
          </a:p>
        </p:txBody>
      </p:sp>
      <p:pic>
        <p:nvPicPr>
          <p:cNvPr id="101379" name="Picture 3" descr="020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9288" y="1195388"/>
            <a:ext cx="7777162" cy="56626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0930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137" y="182245"/>
            <a:ext cx="10515600" cy="1325563"/>
          </a:xfrm>
        </p:spPr>
        <p:txBody>
          <a:bodyPr/>
          <a:lstStyle/>
          <a:p>
            <a:r>
              <a:rPr lang="nl-NL" dirty="0"/>
              <a:t>Filtermasker: kleurcodering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466" y="1187569"/>
            <a:ext cx="7782943" cy="5670431"/>
          </a:xfrm>
        </p:spPr>
      </p:pic>
    </p:spTree>
    <p:extLst>
      <p:ext uri="{BB962C8B-B14F-4D97-AF65-F5344CB8AC3E}">
        <p14:creationId xmlns:p14="http://schemas.microsoft.com/office/powerpoint/2010/main" val="29493142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4233" y="260350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Aangedreven handgereedschap</a:t>
            </a:r>
            <a:endParaRPr lang="nl-NL" sz="28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nl-NL" sz="2200" dirty="0"/>
              <a:t>Handslijpmachine:</a:t>
            </a:r>
          </a:p>
          <a:p>
            <a:r>
              <a:rPr lang="nl-NL" sz="2200" dirty="0"/>
              <a:t>beschermkap, zijhandvat en de juiste schijf</a:t>
            </a:r>
          </a:p>
          <a:p>
            <a:r>
              <a:rPr lang="nl-NL" sz="2200" dirty="0"/>
              <a:t>PBM: veiligheidsbril</a:t>
            </a:r>
          </a:p>
          <a:p>
            <a:pPr>
              <a:buNone/>
            </a:pPr>
            <a:endParaRPr lang="nl-NL" sz="2200" dirty="0"/>
          </a:p>
          <a:p>
            <a:pPr>
              <a:buNone/>
            </a:pPr>
            <a:r>
              <a:rPr lang="nl-NL" sz="2200" dirty="0"/>
              <a:t>Handcirkelzaag:</a:t>
            </a:r>
          </a:p>
          <a:p>
            <a:r>
              <a:rPr lang="nl-NL" sz="2200" dirty="0"/>
              <a:t>automatische beschermkap</a:t>
            </a:r>
          </a:p>
          <a:p>
            <a:r>
              <a:rPr lang="nl-NL" sz="2200" dirty="0"/>
              <a:t>gebruik geen handschoenen!</a:t>
            </a:r>
          </a:p>
          <a:p>
            <a:endParaRPr lang="nl-NL" sz="2200" dirty="0"/>
          </a:p>
          <a:p>
            <a:pPr>
              <a:buNone/>
            </a:pPr>
            <a:r>
              <a:rPr lang="nl-NL" sz="2200" dirty="0"/>
              <a:t>Kettingzaag</a:t>
            </a:r>
          </a:p>
          <a:p>
            <a:r>
              <a:rPr lang="nl-NL" sz="2200" dirty="0"/>
              <a:t>&gt;18 jaar en opgeleid </a:t>
            </a:r>
          </a:p>
          <a:p>
            <a:r>
              <a:rPr lang="nl-NL" sz="2200" dirty="0"/>
              <a:t>PBM: zaagbroek, zaaghelm met oorkappen</a:t>
            </a:r>
          </a:p>
          <a:p>
            <a:pPr>
              <a:buNone/>
            </a:pPr>
            <a:r>
              <a:rPr lang="nl-NL" sz="2200" dirty="0"/>
              <a:t>		 laarzen met zaagbescherming</a:t>
            </a:r>
          </a:p>
          <a:p>
            <a:pPr>
              <a:buNone/>
            </a:pPr>
            <a:r>
              <a:rPr lang="nl-NL" sz="2200" dirty="0"/>
              <a:t>Nauwsluitende handschoenen met zaagbescherming.</a:t>
            </a:r>
          </a:p>
          <a:p>
            <a:pPr lvl="2">
              <a:buNone/>
            </a:pPr>
            <a:r>
              <a:rPr lang="nl-NL" sz="1400" dirty="0"/>
              <a:t> </a:t>
            </a:r>
          </a:p>
          <a:p>
            <a:pPr>
              <a:buNone/>
            </a:pPr>
            <a:endParaRPr lang="nl-NL" sz="2200" dirty="0"/>
          </a:p>
        </p:txBody>
      </p:sp>
      <p:pic>
        <p:nvPicPr>
          <p:cNvPr id="7" name="Afbeelding 6" descr="https://upload.wikimedia.org/wikipedia/commons/thumb/c/c9/Cirkelzaag_%28Circular_saw%29.jpg/220px-Cirkelzaag_%28Circular_saw%29.jpg">
            <a:hlinkClick r:id="rId2"/>
          </p:cNvPr>
          <p:cNvPicPr/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824192" y="2996952"/>
            <a:ext cx="216024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Afbeelding 8" descr="Afbeelding van Bosch haakse slijper PWS850-125 850W">
            <a:hlinkClick r:id="rId4" tooltip="&quot;Bekijk dit product&quot;"/>
          </p:cNvPr>
          <p:cNvPicPr/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7392145" y="1340769"/>
            <a:ext cx="1503045" cy="1503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Afbeelding 9" descr="Lange levensduur, krachtig en robuust">
            <a:hlinkClick r:id="rId6"/>
          </p:cNvPr>
          <p:cNvPicPr/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7824192" y="4653137"/>
            <a:ext cx="2194560" cy="1495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E:\807050B.jpg"/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8904312" y="1916832"/>
            <a:ext cx="1080000" cy="81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0371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4825" y="267503"/>
            <a:ext cx="8229600" cy="1143000"/>
          </a:xfrm>
        </p:spPr>
        <p:txBody>
          <a:bodyPr anchor="t">
            <a:normAutofit/>
          </a:bodyPr>
          <a:lstStyle/>
          <a:p>
            <a:pPr algn="l"/>
            <a:r>
              <a:rPr lang="nl-NL" sz="2800" b="1" dirty="0"/>
              <a:t>Vorkheftrucks en palletwagens</a:t>
            </a:r>
            <a:endParaRPr lang="nl-NL" sz="28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8184232" y="1504254"/>
            <a:ext cx="1800200" cy="2163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8472264" y="4437113"/>
            <a:ext cx="158115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1981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nl-NL" sz="2200" dirty="0"/>
              <a:t>Veilig werken met vorkheftruck: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s</a:t>
            </a:r>
            <a:r>
              <a:rPr lang="nl-NL" sz="2200" dirty="0" err="1"/>
              <a:t>tabiel</a:t>
            </a:r>
            <a:r>
              <a:rPr lang="nl-NL" sz="2200" dirty="0"/>
              <a:t> beladen over beide vorken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bestuurder minimaal 18 jaar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V</a:t>
            </a:r>
            <a:r>
              <a:rPr lang="nl-NL" sz="2200" dirty="0" err="1"/>
              <a:t>eiligheidsvoorzieningen</a:t>
            </a:r>
            <a:r>
              <a:rPr lang="nl-NL" sz="2200" dirty="0"/>
              <a:t> gebruiken (</a:t>
            </a:r>
            <a:r>
              <a:rPr lang="nl-NL" sz="2200" dirty="0">
                <a:solidFill>
                  <a:srgbClr val="FF0000"/>
                </a:solidFill>
              </a:rPr>
              <a:t>gordel dragen</a:t>
            </a:r>
            <a:r>
              <a:rPr lang="nl-NL" sz="2200" dirty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Chauffeur moet goed zicht hebben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nl-NL" sz="22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nl-NL" sz="2200" dirty="0"/>
          </a:p>
          <a:p>
            <a:pPr marL="342900" indent="-342900">
              <a:spcBef>
                <a:spcPct val="20000"/>
              </a:spcBef>
              <a:defRPr/>
            </a:pPr>
            <a:r>
              <a:rPr lang="nl-NL" sz="2200" dirty="0"/>
              <a:t>Veilig werken met palletwagen: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let op de juiste werkhouding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niet te zwaar of te hoog beladen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nl-NL" sz="2200" dirty="0"/>
              <a:t>g</a:t>
            </a:r>
            <a:r>
              <a:rPr lang="nl-NL" sz="2200" dirty="0" err="1"/>
              <a:t>oed</a:t>
            </a:r>
            <a:r>
              <a:rPr lang="nl-NL" sz="2200" dirty="0"/>
              <a:t> zicht en voldoende manoeuvreerruimte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nl-NL" sz="22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nl-NL" sz="2200" dirty="0"/>
          </a:p>
          <a:p>
            <a:pPr marL="342900" indent="-342900">
              <a:spcBef>
                <a:spcPct val="20000"/>
              </a:spcBef>
              <a:defRPr/>
            </a:pPr>
            <a:endParaRPr lang="nl-NL" sz="22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nl-NL" sz="2200" dirty="0"/>
          </a:p>
        </p:txBody>
      </p:sp>
    </p:spTree>
    <p:extLst>
      <p:ext uri="{BB962C8B-B14F-4D97-AF65-F5344CB8AC3E}">
        <p14:creationId xmlns:p14="http://schemas.microsoft.com/office/powerpoint/2010/main" val="22948634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 descr="OH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-153988"/>
            <a:ext cx="9396413" cy="701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8540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963</Words>
  <Application>Microsoft Office PowerPoint</Application>
  <PresentationFormat>Breedbeeld</PresentationFormat>
  <Paragraphs>347</Paragraphs>
  <Slides>48</Slides>
  <Notes>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48</vt:i4>
      </vt:variant>
    </vt:vector>
  </HeadingPairs>
  <TitlesOfParts>
    <vt:vector size="56" baseType="lpstr">
      <vt:lpstr>ＭＳ Ｐゴシック</vt:lpstr>
      <vt:lpstr>Aptos</vt:lpstr>
      <vt:lpstr>Aptos Display</vt:lpstr>
      <vt:lpstr>Arial</vt:lpstr>
      <vt:lpstr>Calibri</vt:lpstr>
      <vt:lpstr>Verdana</vt:lpstr>
      <vt:lpstr>Wingdings</vt:lpstr>
      <vt:lpstr>Kantoorthema</vt:lpstr>
      <vt:lpstr>PowerPoint-presentatie</vt:lpstr>
      <vt:lpstr>Veiligheid en gezondheid (V&amp;G)</vt:lpstr>
      <vt:lpstr>Geluid bij de bron bestrijden  </vt:lpstr>
      <vt:lpstr>Arbeidstijdenwet, milieuwet en CE</vt:lpstr>
      <vt:lpstr>PowerPoint-presentatie</vt:lpstr>
      <vt:lpstr>Taken verantwoordelijkheden &amp; bevoegdheden </vt:lpstr>
      <vt:lpstr>Meewerken aan onderzoek</vt:lpstr>
      <vt:lpstr>Werkvergunningen</vt:lpstr>
      <vt:lpstr>Werkvergunningen</vt:lpstr>
      <vt:lpstr>PowerPoint-presentatie</vt:lpstr>
      <vt:lpstr>Nut van werkvergunning</vt:lpstr>
      <vt:lpstr>Veilig werken en gedrag</vt:lpstr>
      <vt:lpstr>Onveilige situatie</vt:lpstr>
      <vt:lpstr>Onveilige handeling</vt:lpstr>
      <vt:lpstr>Onveilig gedrag</vt:lpstr>
      <vt:lpstr>PowerPoint-presentatie</vt:lpstr>
      <vt:lpstr>Gevaren en risico’s</vt:lpstr>
      <vt:lpstr>PowerPoint-presentatie</vt:lpstr>
      <vt:lpstr>Voorkomen van ongevallen</vt:lpstr>
      <vt:lpstr>TRA en LMRA </vt:lpstr>
      <vt:lpstr>TRA en LMRA </vt:lpstr>
      <vt:lpstr>Pauze?</vt:lpstr>
      <vt:lpstr>Risico’s van de werkomgeving</vt:lpstr>
      <vt:lpstr>Schone werkplek. Good housekeeping</vt:lpstr>
      <vt:lpstr>Accu heggenschaar. Wat gaat fout?</vt:lpstr>
      <vt:lpstr>Accu Heggenschaar</vt:lpstr>
      <vt:lpstr>Dus PBM’s !</vt:lpstr>
      <vt:lpstr>Risico’s van lichamelijke belasting  </vt:lpstr>
      <vt:lpstr>tilhulpmiddel. Zuignap.</vt:lpstr>
      <vt:lpstr>Lichamelijke belasting</vt:lpstr>
      <vt:lpstr>Veiligheidssignalering op de werkplek  </vt:lpstr>
      <vt:lpstr>Persoonlijke bescherming</vt:lpstr>
      <vt:lpstr>Pbm?</vt:lpstr>
      <vt:lpstr>Persoonlijke bescherming</vt:lpstr>
      <vt:lpstr>Anti statisch….</vt:lpstr>
      <vt:lpstr>PowerPoint-presentatie</vt:lpstr>
      <vt:lpstr>PBM voor hoofd, handen en voeten</vt:lpstr>
      <vt:lpstr>Oogbescherming</vt:lpstr>
      <vt:lpstr>Rondvliegende delen</vt:lpstr>
      <vt:lpstr>Gehoorbescherming</vt:lpstr>
      <vt:lpstr>Valbeveiliging</vt:lpstr>
      <vt:lpstr>Snoeien in 1869…</vt:lpstr>
      <vt:lpstr>Adembescherming</vt:lpstr>
      <vt:lpstr>adembescherming</vt:lpstr>
      <vt:lpstr>Filtermasker: kleurcodering</vt:lpstr>
      <vt:lpstr>Aangedreven handgereedschap</vt:lpstr>
      <vt:lpstr>Vorkheftrucks en palletwagens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Kissen,Leon L.</dc:creator>
  <cp:lastModifiedBy>Kissen,Leon L.</cp:lastModifiedBy>
  <cp:revision>1</cp:revision>
  <dcterms:created xsi:type="dcterms:W3CDTF">2026-09-16T13:38:13Z</dcterms:created>
  <dcterms:modified xsi:type="dcterms:W3CDTF">2026-09-16T14:15:03Z</dcterms:modified>
</cp:coreProperties>
</file>